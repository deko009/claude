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embeddedFontLst>
    <p:embeddedFont>
      <p:font typeface="Michroma" pitchFamily="2" charset="0"/>
      <p:regular r:id="rId37"/>
    </p:embeddedFont>
    <p:embeddedFont>
      <p:font typeface="Geist ExtraLight" pitchFamily="2" charset="0"/>
      <p:regular r:id="rId38"/>
    </p:embeddedFont>
    <p:embeddedFont>
      <p:font typeface="Geist Light" pitchFamily="2" charset="0"/>
      <p:regular r:id="rId39"/>
    </p:embeddedFont>
    <p:embeddedFont>
      <p:font typeface="Geist" pitchFamily="2" charset="0"/>
      <p:regular r:id="rId40"/>
    </p:embeddedFont>
    <p:embeddedFont>
      <p:font typeface="Geist Medium" pitchFamily="2" charset="0"/>
      <p:regular r:id="rId41"/>
    </p:embeddedFont>
    <p:embeddedFont>
      <p:font typeface="Geist Mono" pitchFamily="49" charset="0"/>
      <p:regular r:id="rId42"/>
    </p:embeddedFont>
    <p:embeddedFont>
      <p:font typeface="Noto Sans SC Light" pitchFamily="2" charset="-122"/>
      <p:regular r:id="rId43"/>
    </p:embeddedFont>
    <p:embeddedFont>
      <p:font typeface="Noto Sans SC" pitchFamily="2" charset="-122"/>
      <p:regular r:id="rId44"/>
    </p:embeddedFont>
    <p:embeddedFont>
      <p:font typeface="Noto Sans SC Medium" pitchFamily="2" charset="-122"/>
      <p:regular r:id="rId4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font" Target="fonts/font1.fntdata"/><Relationship Id="rId38" Type="http://schemas.openxmlformats.org/officeDocument/2006/relationships/font" Target="fonts/font2.fntdata"/><Relationship Id="rId39" Type="http://schemas.openxmlformats.org/officeDocument/2006/relationships/font" Target="fonts/font3.fntdata"/><Relationship Id="rId40" Type="http://schemas.openxmlformats.org/officeDocument/2006/relationships/font" Target="fonts/font4.fntdata"/><Relationship Id="rId41" Type="http://schemas.openxmlformats.org/officeDocument/2006/relationships/font" Target="fonts/font5.fntdata"/><Relationship Id="rId42" Type="http://schemas.openxmlformats.org/officeDocument/2006/relationships/font" Target="fonts/font6.fntdata"/><Relationship Id="rId43" Type="http://schemas.openxmlformats.org/officeDocument/2006/relationships/font" Target="fonts/font7.fntdata"/><Relationship Id="rId44" Type="http://schemas.openxmlformats.org/officeDocument/2006/relationships/font" Target="fonts/font8.fntdata"/><Relationship Id="rId45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开场：这份文件说明首页每个设计决定的原因——字体、字号、颜色、间距，以及每一屏要表达什么。所有理由都来自贵司的《品牌升级方案 v3》、9/24 和 9/29 两次内容架构会议，以及客户确认的竞品参考。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目录：设计依据 → 设计系统 → 逐屏说明 → 动效与问答。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客户最认可的是“按你们自己定的方向做的”。品牌方案、会议纪要、受众与竞品——后面每一页的理由都来自这三处。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客户方确认的对标：UI 层面参考梅赛德斯-奔驰、沃尔沃；内容层面（更偏功能）参考福特、丰田、铃木。动力形式图标目前首页还没有，建议下一版在车型区补上。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品牌方案要求“黑白核心色、去装饰化”；会议要求首页“提升调性、参考奢侈品官网”。因此做了三件事：统一规范、减少干扰、突出全球布局。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整页按三部分组织：介绍品牌 → 介绍产品 → 保持联系。深浅屏交替，长页面读起来有节奏。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这一页是说服客户的关键：我们的字号不是拍脑袋定的。Volvo 公开的网页设计系统里，板块大标题 heading-1 最大就是 56px、字重 Regular（400），正文行高 1.5——和我们的规范一致。W3C 无障碍规范（WCAG）也建议行距至少 1.5 倍、每行不超过 80 个字符。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客户问“是不是别人也这么做”，这一页给出答案：奔驰做设计升级的出发点就是“设计语言零散、需要统一”；丰田、Volvo 都规定全站一套主字体；Mini、雪铁龙、奥迪、大众、宝马在 2015–2020 年间都把标识改为扁平。MAXUS 新标识的黑白方向，和这股趋势一致。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先讲规则，再讲页面。客户问“为什么这里是这个字号”，答案都在这一章。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为什么三套？Michroma 负责品牌识别，Geist 负责阅读，Geist Mono 负责工程标注。客户喜欢的参考站也是“一套无衬线 + 一套等宽”，标题不加粗，靠字号区分层级。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“标题为什么不加粗？”——Michroma 只有 Regular；字形宽，不加粗也醒目；新 Logo 的方向是线条变细。“首屏标题为什么不更大？”——72 已占约 57% 屏宽，再大会挡车。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“导航为什么是 18？”——原 16 在大屏偏小；18 好看清，又不加粗，不抢视频。“正文为什么 20？”——大屏上 20 读起来最舒服。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“为什么不用我们的蓝色？”——品牌方案把核心色定为黑白，蓝色是一抹点缀。我们把蓝色用在用户悬停、聚焦的时候。地球的蓝绿色属于数据图形，只在地球上出现。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留白是奢侈品官网的核心做法（会议要求参考）。所有间距用同一套数值，每一屏的节奏一致，开发也能直接变量化。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悬停只改颜色，不加底色、不加粗，反馈清楚但不破坏版面。蓝色只在用户触碰时出现，对应品牌方案里“一抹亮蓝代表电动”。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接下来逐屏说明。截图上的标记点用细线连到右侧说明。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“导航为什么是 18？”——导航用得最多，原 16px 在 1920 屏上偏小；18 好看清，又不加粗，不会抢首屏视频。参考了会议提到的奔驰官网。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首屏只做三件事：一句标题、一段视频、三条品牌信息。“首屏标题为什么不更大？”——72 在 1920 屏一行已占约 57%，再大会挡车。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对应会议要求“突出 Glocal 与全球布局”。滚动前地球缓慢自转，约 20 秒一圈。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照片按国家在 CMS 配置，没有配置的国家显示所在大区的通用图。当前为 AI 示意图，上线前换实拍。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数字滚到位后计数一次（1.4 秒），停在任何位置都显示正确数值。原稿用 D-DIN 粗体压在照片上，看不清也挡车。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会议结论：首页目标是提升调性，车型链接“可有可无”。车型区只负责让用户知道 MAXUS 有哪些车系。下一版建议加上动力形式图标（参考丰田）。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这一屏沿用客户已看过的第一版结构，只统一了字体和按钮质感，方便过稿。点击卡片打开详情弹窗。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电驱和越野是一组“工程能力”，两屏文字位置一致，读起来像画册的两页。按钮从白底黑字改为文字链接，是客户“首页不要太多按钮”的要求。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会议纪要：取消独立 Blog，合并为 News and Insights，分为全球品牌新闻、国家新闻、产品洞察三类。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订阅是首页唯一保留实心样式的按钮。背景图为 AI 示意，上线前换实拍。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页脚回归常规：好找、清楚。Choose Your Market 是全球站通往国家站的出口。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演示时可直接打开 HTML 原型滚动给客户看。数字只计数一次，避免停在中间值。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把需要客户提供和确认的内容列清楚，推动进入下一阶段。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2412940"/>
            <a:ext cx="2879752" cy="11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40"/>
              </a:lnSpc>
              <a:buNone/>
            </a:pPr>
            <a:r>
              <a:rPr lang="en-US" sz="750" spc="60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HOMEPAGE WEB UI · DESIGN RATIONALE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2711382"/>
            <a:ext cx="2456762" cy="1308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50"/>
              </a:lnSpc>
              <a:buNone/>
            </a:pPr>
            <a:r>
              <a:rPr lang="en-US" sz="4600" spc="-46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官网首页</a:t>
            </a:r>
            <a:endParaRPr lang="en-US" sz="4600" dirty="0"/>
          </a:p>
          <a:p>
            <a:pPr algn="l" indent="0" marL="0">
              <a:lnSpc>
                <a:spcPts val="5150"/>
              </a:lnSpc>
              <a:buNone/>
            </a:pPr>
            <a:r>
              <a:rPr lang="en-US" sz="4600" spc="-46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设计说明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787380" y="4298843"/>
            <a:ext cx="3683940" cy="447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字体</a:t>
            </a:r>
            <a:pPr algn="l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字号</a:t>
            </a:r>
            <a:pPr algn="l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颜色</a:t>
            </a:r>
            <a:pPr algn="l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间距</a:t>
            </a:r>
            <a:pPr algn="l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以及每一屏为什么这样设计</a:t>
            </a:r>
            <a:pPr algn="l" indent="0" marL="0">
              <a:lnSpc>
                <a:spcPts val="176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61981" y="5860903"/>
            <a:ext cx="2393468" cy="206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spc="26" kern="0" dirty="0">
                <a:solidFill>
                  <a:srgbClr val="F3F3F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Drive the Charge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4681" y="6178396"/>
            <a:ext cx="127443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· 2026.10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1403315"/>
            <a:ext cx="1524086" cy="6984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440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目录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787380" y="2095448"/>
            <a:ext cx="1004069" cy="142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646465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Contents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60863" y="1466813"/>
            <a:ext cx="1085674" cy="761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spc="-96" kern="0" dirty="0">
                <a:solidFill>
                  <a:srgbClr val="505152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00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10159622" y="1612860"/>
            <a:ext cx="1270092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设计依据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127525" y="1962101"/>
            <a:ext cx="2302190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BASIS · REFERENCES · PRINCIPLES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5460863" y="2546286"/>
            <a:ext cx="866902" cy="761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spc="-96" kern="0" dirty="0">
                <a:solidFill>
                  <a:srgbClr val="505152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01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10159622" y="2692333"/>
            <a:ext cx="1270092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设计系统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776671" y="3041574"/>
            <a:ext cx="265304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TYPOGRAPHY · COLOR · SPACING · HOVER</a:t>
            </a:r>
            <a:endParaRPr lang="en-US" sz="650" dirty="0"/>
          </a:p>
        </p:txBody>
      </p:sp>
      <p:sp>
        <p:nvSpPr>
          <p:cNvPr id="11" name="Text 8"/>
          <p:cNvSpPr txBox="1"/>
          <p:nvPr/>
        </p:nvSpPr>
        <p:spPr>
          <a:xfrm>
            <a:off x="5460863" y="3625759"/>
            <a:ext cx="1061986" cy="761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spc="-96" kern="0" dirty="0">
                <a:solidFill>
                  <a:srgbClr val="505152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02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10159622" y="3771806"/>
            <a:ext cx="1270092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逐屏说明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0179961" y="4121047"/>
            <a:ext cx="124975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SCREEN BY SCREEN</a:t>
            </a:r>
            <a:endParaRPr lang="en-US" sz="650" dirty="0"/>
          </a:p>
        </p:txBody>
      </p:sp>
      <p:sp>
        <p:nvSpPr>
          <p:cNvPr id="14" name="Text 11"/>
          <p:cNvSpPr txBox="1"/>
          <p:nvPr/>
        </p:nvSpPr>
        <p:spPr>
          <a:xfrm>
            <a:off x="5460863" y="4705232"/>
            <a:ext cx="1055909" cy="761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spc="-96" kern="0" dirty="0">
                <a:solidFill>
                  <a:srgbClr val="505152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9588136" y="4851279"/>
            <a:ext cx="1841578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动效与待确认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9969499" y="5200520"/>
            <a:ext cx="1460215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MOTION · NEXT STEPS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18" name="Text 15"/>
          <p:cNvSpPr txBox="1"/>
          <p:nvPr/>
        </p:nvSpPr>
        <p:spPr>
          <a:xfrm>
            <a:off x="10980562" y="355591"/>
            <a:ext cx="688437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CONTENTS</a:t>
            </a:r>
            <a:endParaRPr lang="en-US" sz="650" dirty="0"/>
          </a:p>
        </p:txBody>
      </p:sp>
      <p:sp>
        <p:nvSpPr>
          <p:cNvPr id="19" name="Text 16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0" name="Text 17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/ 30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411599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00 — DESIGN BASIS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设计依据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贵司的品牌方案和会议结论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1562061"/>
            <a:ext cx="7843324" cy="426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这一版的每个设计决定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都能在下面三份材料里找到出处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61981" y="3168571"/>
            <a:ext cx="267388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761981" y="3409865"/>
            <a:ext cx="1889326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品牌升级方案</a:t>
            </a:r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v3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61981" y="3936902"/>
            <a:ext cx="2367176" cy="180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口号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Drive the Charge / 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驭电先行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61981" y="4270268"/>
            <a:ext cx="3467148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核心色为黑白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去装饰化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61981" y="4654434"/>
            <a:ext cx="1599738" cy="180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新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Logo 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线条由粗变细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61981" y="4987800"/>
            <a:ext cx="3467148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亮蓝只作点缀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代表电动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761981" y="5371966"/>
            <a:ext cx="2797403" cy="180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European-born · Since 1896 · 100+ 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国家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453322" y="3168571"/>
            <a:ext cx="267388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650" dirty="0"/>
          </a:p>
        </p:txBody>
      </p:sp>
      <p:sp>
        <p:nvSpPr>
          <p:cNvPr id="14" name="Text 11"/>
          <p:cNvSpPr txBox="1"/>
          <p:nvPr/>
        </p:nvSpPr>
        <p:spPr>
          <a:xfrm>
            <a:off x="4453322" y="3409865"/>
            <a:ext cx="2414180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9/24 · 9/29 </a:t>
            </a:r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会议纪要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453322" y="3917852"/>
            <a:ext cx="3467148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首页目标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提升品牌调性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453322" y="4302017"/>
            <a:ext cx="2087634" cy="180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参考奢侈品官网的排版与质感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453322" y="4635384"/>
            <a:ext cx="3467148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首页不放配置表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车型按车系展示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4453322" y="5019550"/>
            <a:ext cx="2670406" cy="180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News 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与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Blog 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合并为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News &amp; Insights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4453322" y="5371966"/>
            <a:ext cx="1333591" cy="180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页脚只放直达链接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8144664" y="3168571"/>
            <a:ext cx="267388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650" dirty="0"/>
          </a:p>
        </p:txBody>
      </p:sp>
      <p:sp>
        <p:nvSpPr>
          <p:cNvPr id="21" name="Text 18"/>
          <p:cNvSpPr txBox="1"/>
          <p:nvPr/>
        </p:nvSpPr>
        <p:spPr>
          <a:xfrm>
            <a:off x="8144664" y="3409865"/>
            <a:ext cx="1317592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受众与竞品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44664" y="3917852"/>
            <a:ext cx="3467148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受众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车队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司机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工程现场用户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144664" y="4282968"/>
            <a:ext cx="3467148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风格要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Professional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不是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Business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144664" y="4648084"/>
            <a:ext cx="3467148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UI 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参考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梅赛德斯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-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奔驰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沃尔沃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8144664" y="5013200"/>
            <a:ext cx="3467148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内容参考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福特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丰田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铃木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144664" y="5378316"/>
            <a:ext cx="3467148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全球站负责品牌展示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不直接卖车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10868349" y="355591"/>
            <a:ext cx="828704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00 — BASIS</a:t>
            </a:r>
            <a:endParaRPr lang="en-US" sz="650" dirty="0"/>
          </a:p>
        </p:txBody>
      </p:sp>
      <p:sp>
        <p:nvSpPr>
          <p:cNvPr id="29" name="Text 26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30" name="Text 27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 / 30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260543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00 — REFERENCES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竞品参考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UI 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看奔驰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、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沃尔沃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，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内容看福特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、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丰田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、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铃木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2539937"/>
            <a:ext cx="267388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UI</a:t>
            </a:r>
            <a:endParaRPr lang="en-US" sz="650" dirty="0"/>
          </a:p>
        </p:txBody>
      </p:sp>
      <p:sp>
        <p:nvSpPr>
          <p:cNvPr id="6" name="Text 3"/>
          <p:cNvSpPr txBox="1"/>
          <p:nvPr/>
        </p:nvSpPr>
        <p:spPr>
          <a:xfrm>
            <a:off x="761981" y="2749481"/>
            <a:ext cx="3196748" cy="206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spc="13" kern="0" dirty="0">
                <a:solidFill>
                  <a:srgbClr val="F3F3F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Mercedes-Benz · Volvo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61981" y="3333667"/>
            <a:ext cx="1635719" cy="317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字体简洁</a:t>
            </a:r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、</a:t>
            </a:r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层级清楚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463738" y="3340016"/>
            <a:ext cx="3511208" cy="34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标题不加粗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用字号区分层级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；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全站一套字体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61981" y="3811095"/>
            <a:ext cx="1238219" cy="158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按钮悬停有反馈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463738" y="3785696"/>
            <a:ext cx="3511208" cy="34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悬停只变色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箭头右移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清楚但不花哨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会议纪要点名参考奔驰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761981" y="4256775"/>
            <a:ext cx="920727" cy="158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大图加留白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2463738" y="4231375"/>
            <a:ext cx="3511208" cy="34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整屏实拍大图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文字少而集中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761981" y="4702454"/>
            <a:ext cx="761981" cy="158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黑白为主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63738" y="4677055"/>
            <a:ext cx="3511208" cy="34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界面以黑白灰为主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颜色只做点缀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400640" y="2539937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CONTENT</a:t>
            </a:r>
            <a:endParaRPr lang="en-US" sz="650" dirty="0"/>
          </a:p>
        </p:txBody>
      </p:sp>
      <p:sp>
        <p:nvSpPr>
          <p:cNvPr id="16" name="Text 13"/>
          <p:cNvSpPr txBox="1"/>
          <p:nvPr/>
        </p:nvSpPr>
        <p:spPr>
          <a:xfrm>
            <a:off x="6400640" y="2749481"/>
            <a:ext cx="2920679" cy="206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spc="13" kern="0" dirty="0">
                <a:solidFill>
                  <a:srgbClr val="F3F3F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Ford · Toyota · Suzuki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400640" y="3365416"/>
            <a:ext cx="1238219" cy="158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按车系组织产品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102397" y="3340016"/>
            <a:ext cx="3511208" cy="34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先选车型类别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再进入详情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400640" y="3811095"/>
            <a:ext cx="1555711" cy="158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动力形式用图标标出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102397" y="3785696"/>
            <a:ext cx="3511208" cy="34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纯电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混动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柴油一眼可辨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会议纪要提到参考丰田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400640" y="4256775"/>
            <a:ext cx="1079473" cy="158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讲用途和场景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102397" y="4231375"/>
            <a:ext cx="3511208" cy="34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用实际工作场景介绍车辆和技术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不堆参数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6400640" y="4702454"/>
            <a:ext cx="1079473" cy="158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引导到国家站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102397" y="4677055"/>
            <a:ext cx="3511208" cy="34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全球站做展示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价格和配置交给国家站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6" name="Text 23"/>
          <p:cNvSpPr txBox="1"/>
          <p:nvPr/>
        </p:nvSpPr>
        <p:spPr>
          <a:xfrm>
            <a:off x="10587666" y="355591"/>
            <a:ext cx="1179557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00 — REFERENCES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 / 30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260543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00 — PRINCIPLES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1035024"/>
            <a:ext cx="4055961" cy="380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这一版主要做了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三件事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2406590"/>
            <a:ext cx="1235491" cy="9524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spc="-300" kern="0" dirty="0">
                <a:solidFill>
                  <a:srgbClr val="E7E7E7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01</a:t>
            </a:r>
            <a:endParaRPr lang="en-US" sz="7500" dirty="0"/>
          </a:p>
        </p:txBody>
      </p:sp>
      <p:sp>
        <p:nvSpPr>
          <p:cNvPr id="6" name="Text 3"/>
          <p:cNvSpPr txBox="1"/>
          <p:nvPr/>
        </p:nvSpPr>
        <p:spPr>
          <a:xfrm>
            <a:off x="761981" y="3892453"/>
            <a:ext cx="1206470" cy="2698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统一规范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61981" y="4228994"/>
            <a:ext cx="898899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CONSISTENCY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761981" y="4514737"/>
            <a:ext cx="3431962" cy="12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原稿里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Michroma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Arimo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D-DIN 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混用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字号和间距也不统一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现在整理成一套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12 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级字号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16 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个颜色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间距统一用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8 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的倍数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各国站可以直接沿用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470288" y="2406590"/>
            <a:ext cx="1540333" cy="9524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spc="-300" kern="0" dirty="0">
                <a:solidFill>
                  <a:srgbClr val="E7E7E7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02</a:t>
            </a:r>
            <a:endParaRPr lang="en-US" sz="7500" dirty="0"/>
          </a:p>
        </p:txBody>
      </p:sp>
      <p:sp>
        <p:nvSpPr>
          <p:cNvPr id="10" name="Text 7"/>
          <p:cNvSpPr txBox="1"/>
          <p:nvPr/>
        </p:nvSpPr>
        <p:spPr>
          <a:xfrm>
            <a:off x="4470288" y="3892453"/>
            <a:ext cx="1206470" cy="2698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减少干扰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470288" y="4228994"/>
            <a:ext cx="828704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LESS NOISE</a:t>
            </a:r>
            <a:endParaRPr lang="en-US" sz="650" dirty="0"/>
          </a:p>
        </p:txBody>
      </p:sp>
      <p:sp>
        <p:nvSpPr>
          <p:cNvPr id="12" name="Text 9"/>
          <p:cNvSpPr txBox="1"/>
          <p:nvPr/>
        </p:nvSpPr>
        <p:spPr>
          <a:xfrm>
            <a:off x="4470288" y="4514737"/>
            <a:ext cx="3431962" cy="820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去掉界面里的大面积蓝色和多余装饰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按钮改为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“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文字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+ 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箭头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”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页面元素少了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车和画面更突出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178596" y="2406590"/>
            <a:ext cx="1530783" cy="9524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spc="-300" kern="0" dirty="0">
                <a:solidFill>
                  <a:srgbClr val="E7E7E7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03</a:t>
            </a:r>
            <a:endParaRPr lang="en-US" sz="7500" dirty="0"/>
          </a:p>
        </p:txBody>
      </p:sp>
      <p:sp>
        <p:nvSpPr>
          <p:cNvPr id="14" name="Text 11"/>
          <p:cNvSpPr txBox="1"/>
          <p:nvPr/>
        </p:nvSpPr>
        <p:spPr>
          <a:xfrm>
            <a:off x="8178596" y="3892453"/>
            <a:ext cx="1746206" cy="2698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突出全球布局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8178596" y="4241694"/>
            <a:ext cx="115066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GLOBAL → LOCAL</a:t>
            </a:r>
            <a:endParaRPr lang="en-US" sz="650" dirty="0"/>
          </a:p>
        </p:txBody>
      </p:sp>
      <p:sp>
        <p:nvSpPr>
          <p:cNvPr id="16" name="Text 13"/>
          <p:cNvSpPr txBox="1"/>
          <p:nvPr/>
        </p:nvSpPr>
        <p:spPr>
          <a:xfrm>
            <a:off x="8178596" y="4527437"/>
            <a:ext cx="3431962" cy="820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原来的照片拼贴信息多但不聚焦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现在用地球展示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100+ 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国家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按用户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IP 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定位到所在国家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再展示当地用车照片</a:t>
            </a:r>
            <a:pPr algn="l" indent="0" marL="0">
              <a:lnSpc>
                <a:spcPts val="161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18" name="Text 15"/>
          <p:cNvSpPr txBox="1"/>
          <p:nvPr/>
        </p:nvSpPr>
        <p:spPr>
          <a:xfrm>
            <a:off x="10587666" y="355591"/>
            <a:ext cx="1179557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00 — PRINCIPLES</a:t>
            </a:r>
            <a:endParaRPr lang="en-US" sz="650" dirty="0"/>
          </a:p>
        </p:txBody>
      </p:sp>
      <p:sp>
        <p:nvSpPr>
          <p:cNvPr id="19" name="Text 16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0" name="Text 17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 / 30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562780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00 — PAGE STRUCTURE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首页结构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10 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屏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，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分三部分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3594010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600" dirty="0"/>
          </a:p>
        </p:txBody>
      </p:sp>
      <p:sp>
        <p:nvSpPr>
          <p:cNvPr id="6" name="Text 3"/>
          <p:cNvSpPr txBox="1"/>
          <p:nvPr/>
        </p:nvSpPr>
        <p:spPr>
          <a:xfrm>
            <a:off x="761981" y="3765456"/>
            <a:ext cx="428738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首屏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739857" y="3594010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600" dirty="0"/>
          </a:p>
        </p:txBody>
      </p:sp>
      <p:sp>
        <p:nvSpPr>
          <p:cNvPr id="8" name="Text 5"/>
          <p:cNvSpPr txBox="1"/>
          <p:nvPr/>
        </p:nvSpPr>
        <p:spPr>
          <a:xfrm>
            <a:off x="1739857" y="3765456"/>
            <a:ext cx="428738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全球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2717732" y="3594010"/>
            <a:ext cx="321337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02A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2717732" y="3765456"/>
            <a:ext cx="428738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3695608" y="3594010"/>
            <a:ext cx="321337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02B</a:t>
            </a:r>
            <a:endParaRPr lang="en-US" sz="600" dirty="0"/>
          </a:p>
        </p:txBody>
      </p:sp>
      <p:sp>
        <p:nvSpPr>
          <p:cNvPr id="12" name="Text 9"/>
          <p:cNvSpPr txBox="1"/>
          <p:nvPr/>
        </p:nvSpPr>
        <p:spPr>
          <a:xfrm>
            <a:off x="3695608" y="3765456"/>
            <a:ext cx="428738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673483" y="3594010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600" dirty="0"/>
          </a:p>
        </p:txBody>
      </p:sp>
      <p:sp>
        <p:nvSpPr>
          <p:cNvPr id="14" name="Text 11"/>
          <p:cNvSpPr txBox="1"/>
          <p:nvPr/>
        </p:nvSpPr>
        <p:spPr>
          <a:xfrm>
            <a:off x="4673483" y="3765456"/>
            <a:ext cx="428738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车型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51359" y="3594010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600" dirty="0"/>
          </a:p>
        </p:txBody>
      </p:sp>
      <p:sp>
        <p:nvSpPr>
          <p:cNvPr id="16" name="Text 13"/>
          <p:cNvSpPr txBox="1"/>
          <p:nvPr/>
        </p:nvSpPr>
        <p:spPr>
          <a:xfrm>
            <a:off x="5651359" y="3765456"/>
            <a:ext cx="428738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科技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629234" y="3594010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</a:t>
            </a:r>
            <a:endParaRPr lang="en-US" sz="600" dirty="0"/>
          </a:p>
        </p:txBody>
      </p:sp>
      <p:sp>
        <p:nvSpPr>
          <p:cNvPr id="18" name="Text 15"/>
          <p:cNvSpPr txBox="1"/>
          <p:nvPr/>
        </p:nvSpPr>
        <p:spPr>
          <a:xfrm>
            <a:off x="6629234" y="3765456"/>
            <a:ext cx="428738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电驱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607110" y="3594010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06</a:t>
            </a:r>
            <a:endParaRPr lang="en-US" sz="600" dirty="0"/>
          </a:p>
        </p:txBody>
      </p:sp>
      <p:sp>
        <p:nvSpPr>
          <p:cNvPr id="20" name="Text 17"/>
          <p:cNvSpPr txBox="1"/>
          <p:nvPr/>
        </p:nvSpPr>
        <p:spPr>
          <a:xfrm>
            <a:off x="7607110" y="3765456"/>
            <a:ext cx="428738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越野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584985" y="3594010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07</a:t>
            </a:r>
            <a:endParaRPr lang="en-US" sz="600" dirty="0"/>
          </a:p>
        </p:txBody>
      </p:sp>
      <p:sp>
        <p:nvSpPr>
          <p:cNvPr id="22" name="Text 19"/>
          <p:cNvSpPr txBox="1"/>
          <p:nvPr/>
        </p:nvSpPr>
        <p:spPr>
          <a:xfrm>
            <a:off x="8584985" y="3765456"/>
            <a:ext cx="428738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资讯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562861" y="3594010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08</a:t>
            </a:r>
            <a:endParaRPr lang="en-US" sz="600" dirty="0"/>
          </a:p>
        </p:txBody>
      </p:sp>
      <p:sp>
        <p:nvSpPr>
          <p:cNvPr id="24" name="Text 21"/>
          <p:cNvSpPr txBox="1"/>
          <p:nvPr/>
        </p:nvSpPr>
        <p:spPr>
          <a:xfrm>
            <a:off x="9562861" y="3765456"/>
            <a:ext cx="428738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订阅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0540736" y="3594010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09</a:t>
            </a:r>
            <a:endParaRPr lang="en-US" sz="600" dirty="0"/>
          </a:p>
        </p:txBody>
      </p:sp>
      <p:sp>
        <p:nvSpPr>
          <p:cNvPr id="26" name="Text 23"/>
          <p:cNvSpPr txBox="1"/>
          <p:nvPr/>
        </p:nvSpPr>
        <p:spPr>
          <a:xfrm>
            <a:off x="10540736" y="3765456"/>
            <a:ext cx="428738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页脚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61981" y="4641734"/>
            <a:ext cx="952600" cy="206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介绍品牌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61981" y="4921127"/>
            <a:ext cx="1132926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首屏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·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全球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·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</a:t>
            </a:r>
            <a:endParaRPr lang="en-US" sz="600" dirty="0"/>
          </a:p>
        </p:txBody>
      </p:sp>
      <p:sp>
        <p:nvSpPr>
          <p:cNvPr id="29" name="Text 26"/>
          <p:cNvSpPr txBox="1"/>
          <p:nvPr/>
        </p:nvSpPr>
        <p:spPr>
          <a:xfrm>
            <a:off x="761981" y="5130672"/>
            <a:ext cx="3467148" cy="71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先讲欧洲出身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1896 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年起步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100+ 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国家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品牌方案提到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欧洲血统是海外用户建立信任最快的方式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4453322" y="4641734"/>
            <a:ext cx="952600" cy="206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介绍产品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453322" y="4921127"/>
            <a:ext cx="1532891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车型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·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科技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·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电驱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·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越野</a:t>
            </a:r>
            <a:endParaRPr lang="en-US" sz="600" dirty="0"/>
          </a:p>
        </p:txBody>
      </p:sp>
      <p:sp>
        <p:nvSpPr>
          <p:cNvPr id="32" name="Text 29"/>
          <p:cNvSpPr txBox="1"/>
          <p:nvPr/>
        </p:nvSpPr>
        <p:spPr>
          <a:xfrm>
            <a:off x="4453322" y="5130672"/>
            <a:ext cx="3467148" cy="71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按车系和技术能力介绍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不放具体型号和配置表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（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9/29 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会议结论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）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8144664" y="4641734"/>
            <a:ext cx="952600" cy="206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保持联系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144664" y="4921127"/>
            <a:ext cx="1132926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资讯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·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订阅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·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页脚</a:t>
            </a:r>
            <a:endParaRPr lang="en-US" sz="600" dirty="0"/>
          </a:p>
        </p:txBody>
      </p:sp>
      <p:sp>
        <p:nvSpPr>
          <p:cNvPr id="35" name="Text 32"/>
          <p:cNvSpPr txBox="1"/>
          <p:nvPr/>
        </p:nvSpPr>
        <p:spPr>
          <a:xfrm>
            <a:off x="8144664" y="5130672"/>
            <a:ext cx="3467148" cy="356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资讯区展示新闻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；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订阅是全页唯一的实心按钮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；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页脚只放直达链接</a:t>
            </a:r>
            <a:pPr algn="l"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37" name="Text 34"/>
          <p:cNvSpPr txBox="1"/>
          <p:nvPr/>
        </p:nvSpPr>
        <p:spPr>
          <a:xfrm>
            <a:off x="10643822" y="355591"/>
            <a:ext cx="1109362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00 — STRUCTURE</a:t>
            </a:r>
            <a:endParaRPr lang="en-US" sz="650" dirty="0"/>
          </a:p>
        </p:txBody>
      </p:sp>
      <p:sp>
        <p:nvSpPr>
          <p:cNvPr id="38" name="Text 35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39" name="Text 36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06 / 30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865018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00 — INDUSTRY BENCHMARK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行业对标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我们的字号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，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和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 Volvo 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官方规范对得上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1562061"/>
            <a:ext cx="7843324" cy="426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Volvo 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官网公开了它的网页设计系统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把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MAXUS 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首页的数字和它逐项对照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61981" y="2425639"/>
            <a:ext cx="332747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</a:t>
            </a:r>
            <a:endParaRPr lang="en-US" sz="600" dirty="0"/>
          </a:p>
        </p:txBody>
      </p:sp>
      <p:sp>
        <p:nvSpPr>
          <p:cNvPr id="7" name="Text 4"/>
          <p:cNvSpPr txBox="1"/>
          <p:nvPr/>
        </p:nvSpPr>
        <p:spPr>
          <a:xfrm>
            <a:off x="2666933" y="2425639"/>
            <a:ext cx="721426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首页</a:t>
            </a:r>
            <a:endParaRPr lang="en-US" sz="600" dirty="0"/>
          </a:p>
        </p:txBody>
      </p:sp>
      <p:sp>
        <p:nvSpPr>
          <p:cNvPr id="8" name="Text 5"/>
          <p:cNvSpPr txBox="1"/>
          <p:nvPr/>
        </p:nvSpPr>
        <p:spPr>
          <a:xfrm>
            <a:off x="4952876" y="2425639"/>
            <a:ext cx="538496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行业标杆</a:t>
            </a:r>
            <a:endParaRPr lang="en-US" sz="600" dirty="0"/>
          </a:p>
        </p:txBody>
      </p:sp>
      <p:sp>
        <p:nvSpPr>
          <p:cNvPr id="9" name="Text 6"/>
          <p:cNvSpPr txBox="1"/>
          <p:nvPr/>
        </p:nvSpPr>
        <p:spPr>
          <a:xfrm>
            <a:off x="7619810" y="2425639"/>
            <a:ext cx="332747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来源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9524762" y="2425639"/>
            <a:ext cx="332747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结论</a:t>
            </a:r>
            <a:endParaRPr lang="en-US" sz="600" dirty="0"/>
          </a:p>
        </p:txBody>
      </p:sp>
      <p:sp>
        <p:nvSpPr>
          <p:cNvPr id="11" name="Text 8"/>
          <p:cNvSpPr txBox="1"/>
          <p:nvPr/>
        </p:nvSpPr>
        <p:spPr>
          <a:xfrm>
            <a:off x="761981" y="2819330"/>
            <a:ext cx="1031973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板块标题字号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2666933" y="2793930"/>
            <a:ext cx="856608" cy="174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H1 · 56px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952876" y="2819330"/>
            <a:ext cx="1521606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heading-1 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最大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56px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619810" y="2828854"/>
            <a:ext cx="1250993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VOLVO CARS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设计系统</a:t>
            </a:r>
            <a:endParaRPr lang="en-US" sz="600" dirty="0"/>
          </a:p>
        </p:txBody>
      </p:sp>
      <p:sp>
        <p:nvSpPr>
          <p:cNvPr id="15" name="Text 12"/>
          <p:cNvSpPr txBox="1"/>
          <p:nvPr/>
        </p:nvSpPr>
        <p:spPr>
          <a:xfrm>
            <a:off x="9524762" y="2822504"/>
            <a:ext cx="1650091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与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Volvo 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官网规范完全一致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761981" y="3301917"/>
            <a:ext cx="730356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标题字重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2666933" y="3254294"/>
            <a:ext cx="2428179" cy="349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Regular</a:t>
            </a:r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</a:t>
            </a:r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不加粗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952876" y="3270168"/>
            <a:ext cx="2824409" cy="3016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标题统一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400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（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Regular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）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619810" y="3311442"/>
            <a:ext cx="1250993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VOLVO CARS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设计系统</a:t>
            </a:r>
            <a:endParaRPr lang="en-US" sz="600" dirty="0"/>
          </a:p>
        </p:txBody>
      </p:sp>
      <p:sp>
        <p:nvSpPr>
          <p:cNvPr id="20" name="Text 17"/>
          <p:cNvSpPr txBox="1"/>
          <p:nvPr/>
        </p:nvSpPr>
        <p:spPr>
          <a:xfrm>
            <a:off x="9524762" y="3305092"/>
            <a:ext cx="1524086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高端车企标题同样不加粗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761981" y="3784505"/>
            <a:ext cx="730356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正文字号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2666933" y="3759106"/>
            <a:ext cx="547426" cy="174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20px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952876" y="3784505"/>
            <a:ext cx="1758112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正文档位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16 / 20 / 24px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619810" y="3794030"/>
            <a:ext cx="1250993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VOLVO CARS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设计系统</a:t>
            </a:r>
            <a:endParaRPr lang="en-US" sz="600" dirty="0"/>
          </a:p>
        </p:txBody>
      </p:sp>
      <p:sp>
        <p:nvSpPr>
          <p:cNvPr id="25" name="Text 22"/>
          <p:cNvSpPr txBox="1"/>
          <p:nvPr/>
        </p:nvSpPr>
        <p:spPr>
          <a:xfrm>
            <a:off x="9524762" y="3787680"/>
            <a:ext cx="1464184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取其中大屏更易读的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20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761981" y="4267093"/>
            <a:ext cx="730356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正文行高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2666933" y="4241694"/>
            <a:ext cx="555363" cy="174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150%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952876" y="4267093"/>
            <a:ext cx="1301717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16px 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正文行高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1.5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619810" y="4270268"/>
            <a:ext cx="1163311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VOLVO · W3C WCAG</a:t>
            </a:r>
            <a:endParaRPr lang="en-US" sz="600" dirty="0"/>
          </a:p>
        </p:txBody>
      </p:sp>
      <p:sp>
        <p:nvSpPr>
          <p:cNvPr id="30" name="Text 27"/>
          <p:cNvSpPr txBox="1"/>
          <p:nvPr/>
        </p:nvSpPr>
        <p:spPr>
          <a:xfrm>
            <a:off x="9524762" y="4270268"/>
            <a:ext cx="1625535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WCAG 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建议行距至少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1.5 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倍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761981" y="4749681"/>
            <a:ext cx="730356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一行字数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2666933" y="4740156"/>
            <a:ext cx="2208058" cy="174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620–820px ≈ 60–75 </a:t>
            </a:r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字符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4952876" y="4749681"/>
            <a:ext cx="1599614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每行不超过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80 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个字符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7619810" y="4752856"/>
            <a:ext cx="1422389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W3C WCAG 2.1 · 1.4.8</a:t>
            </a:r>
            <a:endParaRPr lang="en-US" sz="600" dirty="0"/>
          </a:p>
        </p:txBody>
      </p:sp>
      <p:sp>
        <p:nvSpPr>
          <p:cNvPr id="35" name="Text 32"/>
          <p:cNvSpPr txBox="1"/>
          <p:nvPr/>
        </p:nvSpPr>
        <p:spPr>
          <a:xfrm>
            <a:off x="9524762" y="4752856"/>
            <a:ext cx="1143095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控制在规范范围内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761981" y="5232269"/>
            <a:ext cx="730356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最小字号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2666933" y="5184645"/>
            <a:ext cx="2428179" cy="349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14px</a:t>
            </a:r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</a:t>
            </a:r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标签</a:t>
            </a:r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4952876" y="5200520"/>
            <a:ext cx="2824409" cy="3016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最小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12px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（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micro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）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7619810" y="5241794"/>
            <a:ext cx="1250993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VOLVO CARS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设计系统</a:t>
            </a:r>
            <a:endParaRPr lang="en-US" sz="600" dirty="0"/>
          </a:p>
        </p:txBody>
      </p:sp>
      <p:sp>
        <p:nvSpPr>
          <p:cNvPr id="40" name="Text 37"/>
          <p:cNvSpPr txBox="1"/>
          <p:nvPr/>
        </p:nvSpPr>
        <p:spPr>
          <a:xfrm>
            <a:off x="9524762" y="5210045"/>
            <a:ext cx="2031949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比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Volvo 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更大一档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更易读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761981" y="5657709"/>
            <a:ext cx="11145241" cy="174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90"/>
              </a:lnSpc>
              <a:buNone/>
            </a:pPr>
            <a:r>
              <a:rPr lang="en-US" sz="550" spc="11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来源</a:t>
            </a:r>
            <a:pPr algn="l" indent="0" marL="0">
              <a:lnSpc>
                <a:spcPts val="690"/>
              </a:lnSpc>
              <a:buNone/>
            </a:pPr>
            <a:r>
              <a:rPr lang="en-US" sz="550" spc="11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  <a:pPr algn="l" indent="0" marL="0">
              <a:lnSpc>
                <a:spcPts val="690"/>
              </a:lnSpc>
              <a:buNone/>
            </a:pPr>
            <a:r>
              <a:rPr lang="en-US" sz="550" spc="11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designsystem.volvocars.com/web/core-concepts/typography · w3.org/WAI/WCAG21/Understanding/visual-presentation</a:t>
            </a:r>
            <a:endParaRPr lang="en-US" sz="550" dirty="0"/>
          </a:p>
        </p:txBody>
      </p:sp>
      <p:sp>
        <p:nvSpPr>
          <p:cNvPr id="42" name="Text 39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43" name="Text 40"/>
          <p:cNvSpPr txBox="1"/>
          <p:nvPr/>
        </p:nvSpPr>
        <p:spPr>
          <a:xfrm>
            <a:off x="10643822" y="355591"/>
            <a:ext cx="1109362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00 — BENCHMARK</a:t>
            </a:r>
            <a:endParaRPr lang="en-US" sz="650" dirty="0"/>
          </a:p>
        </p:txBody>
      </p:sp>
      <p:sp>
        <p:nvSpPr>
          <p:cNvPr id="44" name="Text 41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45" name="Text 42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07 / 30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865018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00 — INDUSTRY BENCHMARK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行业对标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统一字体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、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黑白标识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，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是一线车企共同的方向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2311342"/>
            <a:ext cx="1555711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统一设计语言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61981" y="2635184"/>
            <a:ext cx="1433551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1E5FC8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Mercedes-Benz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1981" y="2959026"/>
            <a:ext cx="3467148" cy="1165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奔驰请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Edenspiekermann 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做数字设计升级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原因是品牌设计语言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“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已经变得零散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”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目标是统一品牌和产品体验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“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品牌在最小的触点上也要同样一致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”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761981" y="3719618"/>
            <a:ext cx="2617077" cy="87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0"/>
              </a:lnSpc>
              <a:buNone/>
            </a:pPr>
            <a:r>
              <a:rPr lang="en-US" sz="550" spc="11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edenspiekermann.com · Mercedes-Benz case study</a:t>
            </a:r>
            <a:endParaRPr lang="en-US" sz="550" dirty="0"/>
          </a:p>
        </p:txBody>
      </p:sp>
      <p:sp>
        <p:nvSpPr>
          <p:cNvPr id="9" name="Text 6"/>
          <p:cNvSpPr txBox="1"/>
          <p:nvPr/>
        </p:nvSpPr>
        <p:spPr>
          <a:xfrm>
            <a:off x="4453322" y="2311342"/>
            <a:ext cx="1793830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全站一套主字体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53322" y="2635184"/>
            <a:ext cx="1266868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1E5FC8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Toyota · Volvo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4453322" y="2959026"/>
            <a:ext cx="3467148" cy="1165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丰田品牌规范明确写着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“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不要使用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Toyota Type 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以外的字体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”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Volvo 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规定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Volvo Novum 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用于标题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正文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说明等绝大部分文字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453322" y="3719618"/>
            <a:ext cx="2238195" cy="87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0"/>
              </a:lnSpc>
              <a:buNone/>
            </a:pPr>
            <a:r>
              <a:rPr lang="en-US" sz="550" spc="11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brand.toyota.com · design.volvocars.com</a:t>
            </a:r>
            <a:endParaRPr lang="en-US" sz="550" dirty="0"/>
          </a:p>
        </p:txBody>
      </p:sp>
      <p:sp>
        <p:nvSpPr>
          <p:cNvPr id="13" name="Text 10"/>
          <p:cNvSpPr txBox="1"/>
          <p:nvPr/>
        </p:nvSpPr>
        <p:spPr>
          <a:xfrm>
            <a:off x="8144664" y="2266893"/>
            <a:ext cx="3467148" cy="476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标识走向扁平</a:t>
            </a:r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、</a:t>
            </a:r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单色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44664" y="2635184"/>
            <a:ext cx="2662345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1E5FC8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Mini · Citroën · Audi · VW · BMW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8144664" y="2959026"/>
            <a:ext cx="3467148" cy="777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2015–2020 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年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Mini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雪铁龙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奥迪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大众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宝马相继把立体标识改为扁平设计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理由是在手机等数字屏幕上更清晰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更通用</a:t>
            </a:r>
            <a:pPr algn="l" indent="0" marL="0">
              <a:lnSpc>
                <a:spcPts val="15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8144664" y="3512653"/>
            <a:ext cx="4024584" cy="87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0"/>
              </a:lnSpc>
              <a:buNone/>
            </a:pPr>
            <a:r>
              <a:rPr lang="en-US" sz="550" spc="11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Dezeen · Seven car brands that have returned to flat logo designs (2020)</a:t>
            </a:r>
            <a:endParaRPr lang="en-US" sz="550" dirty="0"/>
          </a:p>
        </p:txBody>
      </p:sp>
      <p:sp>
        <p:nvSpPr>
          <p:cNvPr id="17" name="Text 14"/>
          <p:cNvSpPr txBox="1"/>
          <p:nvPr/>
        </p:nvSpPr>
        <p:spPr>
          <a:xfrm>
            <a:off x="761981" y="5511662"/>
            <a:ext cx="882405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的做法</a:t>
            </a:r>
            <a:endParaRPr lang="en-US" sz="650" dirty="0"/>
          </a:p>
        </p:txBody>
      </p:sp>
      <p:sp>
        <p:nvSpPr>
          <p:cNvPr id="18" name="Text 15"/>
          <p:cNvSpPr txBox="1"/>
          <p:nvPr/>
        </p:nvSpPr>
        <p:spPr>
          <a:xfrm>
            <a:off x="2285943" y="5448164"/>
            <a:ext cx="9560321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全站收成一套规范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标题用品牌字体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Michroma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其余统一用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Geist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；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颜色以黑白为主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——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与新标识的黑白方向一致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也与上述车企的做法一致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0" name="Text 17"/>
          <p:cNvSpPr txBox="1"/>
          <p:nvPr/>
        </p:nvSpPr>
        <p:spPr>
          <a:xfrm>
            <a:off x="10643822" y="355591"/>
            <a:ext cx="1109362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00 — BENCHMARK</a:t>
            </a:r>
            <a:endParaRPr lang="en-US" sz="650" dirty="0"/>
          </a:p>
        </p:txBody>
      </p:sp>
      <p:sp>
        <p:nvSpPr>
          <p:cNvPr id="21" name="Text 18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2" name="Text 19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08 / 30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8483" y="1473163"/>
            <a:ext cx="2007145" cy="1650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0"/>
              </a:lnSpc>
              <a:buNone/>
            </a:pPr>
            <a:r>
              <a:rPr lang="en-US" sz="13000" spc="-650" kern="0" dirty="0">
                <a:solidFill>
                  <a:srgbClr val="ECECEC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3676558"/>
            <a:ext cx="2666933" cy="634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0"/>
              </a:lnSpc>
              <a:buNone/>
            </a:pPr>
            <a:r>
              <a:rPr lang="en-US" sz="400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设计系统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87380" y="4381390"/>
            <a:ext cx="2943375" cy="158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A0A0A0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Typography · Color · Spacing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184890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— TYPEFACES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字体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为什么用这三套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2606610"/>
            <a:ext cx="100444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Michroma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61981" y="2860603"/>
            <a:ext cx="938586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标题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·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品牌字体</a:t>
            </a:r>
            <a:endParaRPr lang="en-US" sz="600" dirty="0"/>
          </a:p>
        </p:txBody>
      </p:sp>
      <p:sp>
        <p:nvSpPr>
          <p:cNvPr id="7" name="Text 4"/>
          <p:cNvSpPr txBox="1"/>
          <p:nvPr/>
        </p:nvSpPr>
        <p:spPr>
          <a:xfrm>
            <a:off x="2539937" y="2346266"/>
            <a:ext cx="4338603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4800" spc="-48" kern="0" dirty="0">
                <a:solidFill>
                  <a:srgbClr val="F3F3F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MAXUS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7365816" y="2597780"/>
            <a:ext cx="4277253" cy="734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贵司提供的品牌字体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字形和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MAXUS 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字标风格一致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只用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Regular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这款字体没有粗体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字形较宽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不加粗也足够醒目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；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新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Logo 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的方向也是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“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线条变细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”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61981" y="3971826"/>
            <a:ext cx="58636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Geist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61981" y="4225819"/>
            <a:ext cx="1132926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正文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·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导航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·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数字</a:t>
            </a:r>
            <a:endParaRPr lang="en-US" sz="600" dirty="0"/>
          </a:p>
        </p:txBody>
      </p:sp>
      <p:sp>
        <p:nvSpPr>
          <p:cNvPr id="11" name="Text 8"/>
          <p:cNvSpPr txBox="1"/>
          <p:nvPr/>
        </p:nvSpPr>
        <p:spPr>
          <a:xfrm>
            <a:off x="2539937" y="3800380"/>
            <a:ext cx="2733780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4800" spc="-192" kern="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Aa 1896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7365816" y="3962995"/>
            <a:ext cx="4277253" cy="734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现代无衬线字体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大字小字都清晰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支持欧洲多语言字符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替换原稿的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Arimo 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和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D-DIN 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粗体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大数字用细体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字号大但不显得笨重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761981" y="5337042"/>
            <a:ext cx="112548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Geist Mono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61981" y="5591035"/>
            <a:ext cx="1132926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日期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·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地点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· </a:t>
            </a:r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标签</a:t>
            </a:r>
            <a:endParaRPr lang="en-US" sz="600" dirty="0"/>
          </a:p>
        </p:txBody>
      </p:sp>
      <p:sp>
        <p:nvSpPr>
          <p:cNvPr id="15" name="Text 12"/>
          <p:cNvSpPr txBox="1"/>
          <p:nvPr/>
        </p:nvSpPr>
        <p:spPr>
          <a:xfrm>
            <a:off x="2539937" y="5330692"/>
            <a:ext cx="3584560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2200" spc="132" kern="0" dirty="0">
                <a:solidFill>
                  <a:srgbClr val="F3F3F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2026.10.10 · UK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365816" y="5328211"/>
            <a:ext cx="4277253" cy="734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等宽字体常用在车辆铭牌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VIN 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码这类工程标注上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有工业感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符合会议提出的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“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Professional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不是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Business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”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只用于短标注</a:t>
            </a:r>
            <a:pPr algn="l" indent="0" marL="0">
              <a:lnSpc>
                <a:spcPts val="1440"/>
              </a:lnSpc>
              <a:buNone/>
            </a:pPr>
            <a:r>
              <a:rPr lang="en-US" sz="8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18" name="Text 15"/>
          <p:cNvSpPr txBox="1"/>
          <p:nvPr/>
        </p:nvSpPr>
        <p:spPr>
          <a:xfrm>
            <a:off x="10643822" y="355591"/>
            <a:ext cx="1109362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— TYPEFACES</a:t>
            </a:r>
            <a:endParaRPr lang="en-US" sz="650" dirty="0"/>
          </a:p>
        </p:txBody>
      </p:sp>
      <p:sp>
        <p:nvSpPr>
          <p:cNvPr id="19" name="Text 16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0" name="Text 17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10 / 30</a:t>
            </a:r>
            <a:endParaRPr lang="en-US" sz="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2016075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— TYPE SCALE · DISPLAY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标题字号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为什么是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 72 / 56 / 44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2139897"/>
            <a:ext cx="768430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Display L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761981" y="2330392"/>
            <a:ext cx="1422389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MICHROMA · 72 / 112%</a:t>
            </a:r>
            <a:endParaRPr lang="en-US" sz="600" dirty="0"/>
          </a:p>
        </p:txBody>
      </p:sp>
      <p:sp>
        <p:nvSpPr>
          <p:cNvPr id="7" name="Text 4"/>
          <p:cNvSpPr txBox="1"/>
          <p:nvPr/>
        </p:nvSpPr>
        <p:spPr>
          <a:xfrm>
            <a:off x="2349441" y="1958926"/>
            <a:ext cx="3497125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3600" spc="-72" kern="0" dirty="0">
                <a:solidFill>
                  <a:srgbClr val="F3F3F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Maximize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6794330" y="2108842"/>
            <a:ext cx="4871598" cy="67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全页只有首屏标题用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72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在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1920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屏上一行约占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57%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宽度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足够醒目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同时把画面上方留给车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用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96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会占到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76%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在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1440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屏会换行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761981" y="2832029"/>
            <a:ext cx="291324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H1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61981" y="3022524"/>
            <a:ext cx="1422389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MICHROMA · 56 / 115%</a:t>
            </a:r>
            <a:endParaRPr lang="en-US" sz="600" dirty="0"/>
          </a:p>
        </p:txBody>
      </p:sp>
      <p:sp>
        <p:nvSpPr>
          <p:cNvPr id="11" name="Text 8"/>
          <p:cNvSpPr txBox="1"/>
          <p:nvPr/>
        </p:nvSpPr>
        <p:spPr>
          <a:xfrm>
            <a:off x="2349441" y="2720907"/>
            <a:ext cx="3025848" cy="444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2800" spc="-56" kern="0" dirty="0">
                <a:solidFill>
                  <a:srgbClr val="F3F3F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One brand.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794330" y="2891063"/>
            <a:ext cx="4871598" cy="335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所有板块标题统一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56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整页风格一致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两行的标题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（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如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News &amp; Insights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）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也能放进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400px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宽的栏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761981" y="3428914"/>
            <a:ext cx="326546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H2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61981" y="3619410"/>
            <a:ext cx="1422389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MICHROMA · 44 / 118%</a:t>
            </a:r>
            <a:endParaRPr lang="en-US" sz="600" dirty="0"/>
          </a:p>
        </p:txBody>
      </p:sp>
      <p:sp>
        <p:nvSpPr>
          <p:cNvPr id="15" name="Text 12"/>
          <p:cNvSpPr txBox="1"/>
          <p:nvPr/>
        </p:nvSpPr>
        <p:spPr>
          <a:xfrm>
            <a:off x="2349441" y="3371766"/>
            <a:ext cx="1265379" cy="34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spc="-33" kern="0" dirty="0">
                <a:solidFill>
                  <a:srgbClr val="F3F3F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Vans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794330" y="3487948"/>
            <a:ext cx="4871598" cy="335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比板块标题小一级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用在车型名等板块内部的标题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761981" y="3930552"/>
            <a:ext cx="329150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H4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61981" y="4121047"/>
            <a:ext cx="168146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GEIST MEDIUM · 24 / 130%</a:t>
            </a:r>
            <a:endParaRPr lang="en-US" sz="600" dirty="0"/>
          </a:p>
        </p:txBody>
      </p:sp>
      <p:sp>
        <p:nvSpPr>
          <p:cNvPr id="19" name="Text 16"/>
          <p:cNvSpPr txBox="1"/>
          <p:nvPr/>
        </p:nvSpPr>
        <p:spPr>
          <a:xfrm>
            <a:off x="2349441" y="3987700"/>
            <a:ext cx="1941166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MAXUS at IAA 2026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794330" y="3989585"/>
            <a:ext cx="4871598" cy="335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新闻标题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卡片名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比正文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20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大一档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稍粗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一看就是标题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761981" y="4559186"/>
            <a:ext cx="1012874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Data Display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61981" y="4749681"/>
            <a:ext cx="1616729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GEIST LIGHT · 96 / 100%</a:t>
            </a:r>
            <a:endParaRPr lang="en-US" sz="600" dirty="0"/>
          </a:p>
        </p:txBody>
      </p:sp>
      <p:sp>
        <p:nvSpPr>
          <p:cNvPr id="23" name="Text 20"/>
          <p:cNvSpPr txBox="1"/>
          <p:nvPr/>
        </p:nvSpPr>
        <p:spPr>
          <a:xfrm>
            <a:off x="2349441" y="4355991"/>
            <a:ext cx="1667081" cy="761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spc="-240" kern="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1896</a:t>
            </a:r>
            <a:endParaRPr lang="en-US" sz="4800" dirty="0"/>
          </a:p>
        </p:txBody>
      </p:sp>
      <p:sp>
        <p:nvSpPr>
          <p:cNvPr id="24" name="Text 21"/>
          <p:cNvSpPr txBox="1"/>
          <p:nvPr/>
        </p:nvSpPr>
        <p:spPr>
          <a:xfrm>
            <a:off x="6794330" y="4618220"/>
            <a:ext cx="4871598" cy="335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三个数字是品牌最有说服力的信息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用全页最大字号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；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细体避免笨重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字距收紧让数字更紧凑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61981" y="5333867"/>
            <a:ext cx="645154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INDUSTRY</a:t>
            </a:r>
            <a:endParaRPr lang="en-US" sz="600" dirty="0"/>
          </a:p>
        </p:txBody>
      </p:sp>
      <p:sp>
        <p:nvSpPr>
          <p:cNvPr id="26" name="Text 23"/>
          <p:cNvSpPr txBox="1"/>
          <p:nvPr/>
        </p:nvSpPr>
        <p:spPr>
          <a:xfrm>
            <a:off x="1328903" y="5283068"/>
            <a:ext cx="6157076" cy="34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Volvo 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官网设计系统的板块标题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heading-1 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最大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56px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字重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Regular——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与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MAXUS 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的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H1 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一致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示例为网页实际像素大小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10026399" y="355591"/>
            <a:ext cx="1881140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— TYPE SCALE · DISPLAY</a:t>
            </a:r>
            <a:endParaRPr lang="en-US" sz="650" dirty="0"/>
          </a:p>
        </p:txBody>
      </p:sp>
      <p:sp>
        <p:nvSpPr>
          <p:cNvPr id="29" name="Text 26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30" name="Text 27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11 / 30</a:t>
            </a:r>
            <a:endParaRPr lang="en-US" sz="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789489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— TYPE SCALE · TEXT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正文字号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为什么导航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 18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、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正文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 20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2057349"/>
            <a:ext cx="614025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Body L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761981" y="2247844"/>
            <a:ext cx="1228173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GEIST · 22 / 150%</a:t>
            </a:r>
            <a:endParaRPr lang="en-US" sz="600" dirty="0"/>
          </a:p>
        </p:txBody>
      </p:sp>
      <p:sp>
        <p:nvSpPr>
          <p:cNvPr id="7" name="Text 4"/>
          <p:cNvSpPr txBox="1"/>
          <p:nvPr/>
        </p:nvSpPr>
        <p:spPr>
          <a:xfrm>
            <a:off x="2349441" y="2120847"/>
            <a:ext cx="2571066" cy="174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Built to keep business moving.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94330" y="2116382"/>
            <a:ext cx="4871598" cy="335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标题下的一两句介绍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宽度控制在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620–820px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每行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60–75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个字符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读起来不累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761981" y="2641534"/>
            <a:ext cx="658796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Body M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61981" y="2832029"/>
            <a:ext cx="1228173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GEIST · 20 / 150%</a:t>
            </a:r>
            <a:endParaRPr lang="en-US" sz="600" dirty="0"/>
          </a:p>
        </p:txBody>
      </p:sp>
      <p:sp>
        <p:nvSpPr>
          <p:cNvPr id="11" name="Text 8"/>
          <p:cNvSpPr txBox="1"/>
          <p:nvPr/>
        </p:nvSpPr>
        <p:spPr>
          <a:xfrm>
            <a:off x="2349441" y="2714557"/>
            <a:ext cx="2083542" cy="158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European-born since 1896.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794330" y="2700568"/>
            <a:ext cx="4871598" cy="335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原来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18px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在大屏上偏小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统一改为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20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行高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30px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两三行也不挤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761981" y="3251119"/>
            <a:ext cx="401950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Nav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61981" y="3441614"/>
            <a:ext cx="1228173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GEIST · 18 / 120%</a:t>
            </a:r>
            <a:endParaRPr lang="en-US" sz="600" dirty="0"/>
          </a:p>
        </p:txBody>
      </p:sp>
      <p:sp>
        <p:nvSpPr>
          <p:cNvPr id="15" name="Text 12"/>
          <p:cNvSpPr txBox="1"/>
          <p:nvPr/>
        </p:nvSpPr>
        <p:spPr>
          <a:xfrm>
            <a:off x="2349441" y="3327317"/>
            <a:ext cx="3042715" cy="142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Vehicles    Safety &amp; Technology    Newsroom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794330" y="3220064"/>
            <a:ext cx="4871598" cy="67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导航用得最多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原来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16px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在大屏上偏小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改为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18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更好看清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好点击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不加粗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因为叠在首屏视频上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太粗会抢画面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（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参考奔驰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）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761981" y="3835304"/>
            <a:ext cx="624318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Body 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61981" y="4025799"/>
            <a:ext cx="1228173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GEIST · 16 / 145%</a:t>
            </a:r>
            <a:endParaRPr lang="en-US" sz="600" dirty="0"/>
          </a:p>
        </p:txBody>
      </p:sp>
      <p:sp>
        <p:nvSpPr>
          <p:cNvPr id="19" name="Text 16"/>
          <p:cNvSpPr txBox="1"/>
          <p:nvPr/>
        </p:nvSpPr>
        <p:spPr>
          <a:xfrm>
            <a:off x="2349441" y="3917852"/>
            <a:ext cx="3026220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Last-mile delivery for neighbourhood businesses.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6794330" y="3894338"/>
            <a:ext cx="4871598" cy="335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图片说明等辅助信息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全站正文最小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16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761981" y="4362341"/>
            <a:ext cx="589345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Button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61981" y="4565536"/>
            <a:ext cx="1525326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GEIST MEDIUM · 16 + →</a:t>
            </a:r>
            <a:endParaRPr lang="en-US" sz="600" dirty="0"/>
          </a:p>
        </p:txBody>
      </p:sp>
      <p:sp>
        <p:nvSpPr>
          <p:cNvPr id="23" name="Text 20"/>
          <p:cNvSpPr txBox="1"/>
          <p:nvPr/>
        </p:nvSpPr>
        <p:spPr>
          <a:xfrm>
            <a:off x="2349441" y="4451239"/>
            <a:ext cx="868390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Our Story  →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6794330" y="4427724"/>
            <a:ext cx="4871598" cy="335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首页按钮改为文字链接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；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稍粗的字重提示可以点击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箭头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16px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间距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10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61981" y="4902077"/>
            <a:ext cx="885877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Data Mono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61981" y="5092573"/>
            <a:ext cx="1098572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GEIST MONO · 14</a:t>
            </a:r>
            <a:endParaRPr lang="en-US" sz="600" dirty="0"/>
          </a:p>
        </p:txBody>
      </p:sp>
      <p:sp>
        <p:nvSpPr>
          <p:cNvPr id="27" name="Text 24"/>
          <p:cNvSpPr txBox="1"/>
          <p:nvPr/>
        </p:nvSpPr>
        <p:spPr>
          <a:xfrm>
            <a:off x="2349441" y="4987800"/>
            <a:ext cx="1865018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F3F3F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2026.10.10 · BRAND NEWS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6794330" y="4961111"/>
            <a:ext cx="4871598" cy="335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日期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地点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标签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统一大写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14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是这类字体能看清的最小字号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761981" y="5537062"/>
            <a:ext cx="645154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INDUSTRY</a:t>
            </a:r>
            <a:endParaRPr lang="en-US" sz="600" dirty="0"/>
          </a:p>
        </p:txBody>
      </p:sp>
      <p:sp>
        <p:nvSpPr>
          <p:cNvPr id="30" name="Text 27"/>
          <p:cNvSpPr txBox="1"/>
          <p:nvPr/>
        </p:nvSpPr>
        <p:spPr>
          <a:xfrm>
            <a:off x="1328903" y="5486263"/>
            <a:ext cx="6600152" cy="34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Volvo 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正文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16 / 20 / 24px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行高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1.5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；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W3C WCAG 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建议行距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≥1.5 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倍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每行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≤80 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字符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MAXUS 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正文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20 / 150%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导语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60–75 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字符</a:t>
            </a:r>
            <a:pPr algn="l" indent="0" marL="0">
              <a:lnSpc>
                <a:spcPts val="13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32" name="Text 29"/>
          <p:cNvSpPr txBox="1"/>
          <p:nvPr/>
        </p:nvSpPr>
        <p:spPr>
          <a:xfrm>
            <a:off x="10194769" y="355591"/>
            <a:ext cx="1670678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— TYPE SCALE · TEXT</a:t>
            </a:r>
            <a:endParaRPr lang="en-US" sz="650" dirty="0"/>
          </a:p>
        </p:txBody>
      </p:sp>
      <p:sp>
        <p:nvSpPr>
          <p:cNvPr id="33" name="Text 30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34" name="Text 31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12 / 30</a:t>
            </a:r>
            <a:endParaRPr lang="en-US" sz="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882653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— COLOR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颜色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黑白为主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，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蓝色只用在悬停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4057549"/>
            <a:ext cx="317368" cy="134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Ink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61981" y="4241694"/>
            <a:ext cx="580415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#0A0A0B</a:t>
            </a:r>
            <a:endParaRPr lang="en-US" sz="600" dirty="0"/>
          </a:p>
        </p:txBody>
      </p:sp>
      <p:sp>
        <p:nvSpPr>
          <p:cNvPr id="7" name="Text 4"/>
          <p:cNvSpPr txBox="1"/>
          <p:nvPr/>
        </p:nvSpPr>
        <p:spPr>
          <a:xfrm>
            <a:off x="761981" y="4400440"/>
            <a:ext cx="460363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主文字</a:t>
            </a:r>
            <a:endParaRPr lang="en-US" sz="700" dirty="0"/>
          </a:p>
        </p:txBody>
      </p:sp>
      <p:sp>
        <p:nvSpPr>
          <p:cNvPr id="8" name="Text 5"/>
          <p:cNvSpPr txBox="1"/>
          <p:nvPr/>
        </p:nvSpPr>
        <p:spPr>
          <a:xfrm>
            <a:off x="1955751" y="4057549"/>
            <a:ext cx="484671" cy="134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White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955751" y="4241694"/>
            <a:ext cx="580415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#FFFFFF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1955751" y="4400440"/>
            <a:ext cx="571486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深底文字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3149521" y="4057549"/>
            <a:ext cx="717954" cy="134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Gray 600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3149521" y="4241694"/>
            <a:ext cx="580415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#5A5F68</a:t>
            </a:r>
            <a:endParaRPr lang="en-US" sz="600" dirty="0"/>
          </a:p>
        </p:txBody>
      </p:sp>
      <p:sp>
        <p:nvSpPr>
          <p:cNvPr id="13" name="Text 10"/>
          <p:cNvSpPr txBox="1"/>
          <p:nvPr/>
        </p:nvSpPr>
        <p:spPr>
          <a:xfrm>
            <a:off x="3149521" y="4400440"/>
            <a:ext cx="571486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说明文字</a:t>
            </a:r>
            <a:endParaRPr lang="en-US" sz="700" dirty="0"/>
          </a:p>
        </p:txBody>
      </p:sp>
      <p:sp>
        <p:nvSpPr>
          <p:cNvPr id="14" name="Text 11"/>
          <p:cNvSpPr txBox="1"/>
          <p:nvPr/>
        </p:nvSpPr>
        <p:spPr>
          <a:xfrm>
            <a:off x="4343291" y="4057549"/>
            <a:ext cx="719566" cy="134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Gray 400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343291" y="4241694"/>
            <a:ext cx="580415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#8A8F98</a:t>
            </a:r>
            <a:endParaRPr lang="en-US" sz="600" dirty="0"/>
          </a:p>
        </p:txBody>
      </p:sp>
      <p:sp>
        <p:nvSpPr>
          <p:cNvPr id="16" name="Text 13"/>
          <p:cNvSpPr txBox="1"/>
          <p:nvPr/>
        </p:nvSpPr>
        <p:spPr>
          <a:xfrm>
            <a:off x="4343291" y="4400440"/>
            <a:ext cx="678887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日期</a:t>
            </a:r>
            <a:pPr algn="l" indent="0" marL="0">
              <a:lnSpc>
                <a:spcPts val="880"/>
              </a:lnSpc>
              <a:buNone/>
            </a:pPr>
            <a:r>
              <a:rPr lang="en-US" sz="7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/ </a:t>
            </a:r>
            <a:pPr algn="l" indent="0" marL="0">
              <a:lnSpc>
                <a:spcPts val="880"/>
              </a:lnSpc>
              <a:buNone/>
            </a:pPr>
            <a:r>
              <a:rPr lang="en-US" sz="7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标签</a:t>
            </a:r>
            <a:endParaRPr lang="en-US" sz="700" dirty="0"/>
          </a:p>
        </p:txBody>
      </p:sp>
      <p:sp>
        <p:nvSpPr>
          <p:cNvPr id="17" name="Text 14"/>
          <p:cNvSpPr txBox="1"/>
          <p:nvPr/>
        </p:nvSpPr>
        <p:spPr>
          <a:xfrm>
            <a:off x="5537062" y="4057549"/>
            <a:ext cx="621466" cy="134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Surface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537062" y="4241694"/>
            <a:ext cx="580415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#F1F1F0</a:t>
            </a:r>
            <a:endParaRPr lang="en-US" sz="600" dirty="0"/>
          </a:p>
        </p:txBody>
      </p:sp>
      <p:sp>
        <p:nvSpPr>
          <p:cNvPr id="19" name="Text 16"/>
          <p:cNvSpPr txBox="1"/>
          <p:nvPr/>
        </p:nvSpPr>
        <p:spPr>
          <a:xfrm>
            <a:off x="5537062" y="4400440"/>
            <a:ext cx="571486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浅色区块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6730832" y="4057549"/>
            <a:ext cx="445605" cy="134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Navy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730832" y="4241694"/>
            <a:ext cx="580415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#070A11</a:t>
            </a:r>
            <a:endParaRPr lang="en-US" sz="600" dirty="0"/>
          </a:p>
        </p:txBody>
      </p:sp>
      <p:sp>
        <p:nvSpPr>
          <p:cNvPr id="22" name="Text 19"/>
          <p:cNvSpPr txBox="1"/>
          <p:nvPr/>
        </p:nvSpPr>
        <p:spPr>
          <a:xfrm>
            <a:off x="6730832" y="4400440"/>
            <a:ext cx="682608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全球板块底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7924602" y="4057549"/>
            <a:ext cx="818906" cy="134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Brand Blue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7924602" y="4241694"/>
            <a:ext cx="580415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#1E5FC8</a:t>
            </a:r>
            <a:endParaRPr lang="en-US" sz="600" dirty="0"/>
          </a:p>
        </p:txBody>
      </p:sp>
      <p:sp>
        <p:nvSpPr>
          <p:cNvPr id="25" name="Text 22"/>
          <p:cNvSpPr txBox="1"/>
          <p:nvPr/>
        </p:nvSpPr>
        <p:spPr>
          <a:xfrm>
            <a:off x="7924602" y="4400440"/>
            <a:ext cx="678887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悬停</a:t>
            </a:r>
            <a:pPr algn="l" indent="0" marL="0">
              <a:lnSpc>
                <a:spcPts val="880"/>
              </a:lnSpc>
              <a:buNone/>
            </a:pPr>
            <a:r>
              <a:rPr lang="en-US" sz="7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/ </a:t>
            </a:r>
            <a:pPr algn="l" indent="0" marL="0">
              <a:lnSpc>
                <a:spcPts val="880"/>
              </a:lnSpc>
              <a:buNone/>
            </a:pPr>
            <a:r>
              <a:rPr lang="en-US" sz="7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选中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9118372" y="4057549"/>
            <a:ext cx="934493" cy="134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Globe Ocean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9118372" y="4241694"/>
            <a:ext cx="580415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#1F6BC6</a:t>
            </a:r>
            <a:endParaRPr lang="en-US" sz="600" dirty="0"/>
          </a:p>
        </p:txBody>
      </p:sp>
      <p:sp>
        <p:nvSpPr>
          <p:cNvPr id="28" name="Text 25"/>
          <p:cNvSpPr txBox="1"/>
          <p:nvPr/>
        </p:nvSpPr>
        <p:spPr>
          <a:xfrm>
            <a:off x="9118372" y="4400440"/>
            <a:ext cx="460363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仅地球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10312142" y="4057549"/>
            <a:ext cx="838874" cy="134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Globe Land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10312142" y="4241694"/>
            <a:ext cx="580415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#61F2AD</a:t>
            </a:r>
            <a:endParaRPr lang="en-US" sz="600" dirty="0"/>
          </a:p>
        </p:txBody>
      </p:sp>
      <p:sp>
        <p:nvSpPr>
          <p:cNvPr id="31" name="Text 28"/>
          <p:cNvSpPr txBox="1"/>
          <p:nvPr/>
        </p:nvSpPr>
        <p:spPr>
          <a:xfrm>
            <a:off x="10312142" y="4400440"/>
            <a:ext cx="460363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仅地球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761981" y="1841454"/>
            <a:ext cx="1033834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CORE · NEUTRAL</a:t>
            </a:r>
            <a:endParaRPr lang="en-US" sz="600" dirty="0"/>
          </a:p>
        </p:txBody>
      </p:sp>
      <p:sp>
        <p:nvSpPr>
          <p:cNvPr id="33" name="Text 30"/>
          <p:cNvSpPr txBox="1"/>
          <p:nvPr/>
        </p:nvSpPr>
        <p:spPr>
          <a:xfrm>
            <a:off x="7924602" y="1841454"/>
            <a:ext cx="969095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ACCENT · DATA</a:t>
            </a:r>
            <a:endParaRPr lang="en-US" sz="600" dirty="0"/>
          </a:p>
        </p:txBody>
      </p:sp>
      <p:sp>
        <p:nvSpPr>
          <p:cNvPr id="34" name="Text 31"/>
          <p:cNvSpPr txBox="1"/>
          <p:nvPr/>
        </p:nvSpPr>
        <p:spPr>
          <a:xfrm>
            <a:off x="761981" y="5181470"/>
            <a:ext cx="960413" cy="1666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黑白是主色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761981" y="5410065"/>
            <a:ext cx="3467148" cy="335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品牌方案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黑白核心色在不同文化里都传达信任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清晰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权威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4453322" y="5181470"/>
            <a:ext cx="1627147" cy="1666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蓝色只在悬停时出现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4453322" y="5410065"/>
            <a:ext cx="3467148" cy="67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方案里蓝色是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“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一抹点缀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代表电动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”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用户把鼠标移上去时才亮起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全站统一用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#1E5FC8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38" name="Text 35"/>
          <p:cNvSpPr txBox="1"/>
          <p:nvPr/>
        </p:nvSpPr>
        <p:spPr>
          <a:xfrm>
            <a:off x="8144664" y="5181470"/>
            <a:ext cx="1127097" cy="1666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不做蓝色按钮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8144664" y="5410065"/>
            <a:ext cx="3467148" cy="335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蓝色按钮是很多车企和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B2B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网站的常规做法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用了反而显得普通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41" name="Text 38"/>
          <p:cNvSpPr txBox="1"/>
          <p:nvPr/>
        </p:nvSpPr>
        <p:spPr>
          <a:xfrm>
            <a:off x="10868349" y="355591"/>
            <a:ext cx="828704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— COLOR</a:t>
            </a:r>
            <a:endParaRPr lang="en-US" sz="650" dirty="0"/>
          </a:p>
        </p:txBody>
      </p:sp>
      <p:sp>
        <p:nvSpPr>
          <p:cNvPr id="42" name="Text 39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43" name="Text 40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13 / 30</a:t>
            </a:r>
            <a:endParaRPr lang="en-US" sz="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033834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— SPACING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间距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全部用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 8 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的倍数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9360" y="6172046"/>
            <a:ext cx="305214" cy="87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90"/>
              </a:lnSpc>
              <a:buNone/>
            </a:pPr>
            <a:r>
              <a:rPr lang="en-US" sz="550" spc="44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120</a:t>
            </a:r>
            <a:endParaRPr lang="en-US" sz="550" dirty="0"/>
          </a:p>
        </p:txBody>
      </p:sp>
      <p:sp>
        <p:nvSpPr>
          <p:cNvPr id="6" name="Text 3"/>
          <p:cNvSpPr txBox="1"/>
          <p:nvPr/>
        </p:nvSpPr>
        <p:spPr>
          <a:xfrm>
            <a:off x="3195161" y="2120847"/>
            <a:ext cx="305214" cy="87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0"/>
              </a:lnSpc>
              <a:buNone/>
            </a:pPr>
            <a:r>
              <a:rPr lang="en-US" sz="550" spc="44" kern="0" dirty="0">
                <a:solidFill>
                  <a:srgbClr val="E0A060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140</a:t>
            </a:r>
            <a:endParaRPr lang="en-US" sz="550" dirty="0"/>
          </a:p>
        </p:txBody>
      </p:sp>
      <p:sp>
        <p:nvSpPr>
          <p:cNvPr id="7" name="Text 4"/>
          <p:cNvSpPr txBox="1"/>
          <p:nvPr/>
        </p:nvSpPr>
        <p:spPr>
          <a:xfrm>
            <a:off x="1132752" y="2386250"/>
            <a:ext cx="1136398" cy="63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0"/>
              </a:lnSpc>
              <a:buNone/>
            </a:pPr>
            <a:r>
              <a:rPr lang="en-US" sz="550" spc="44" kern="0" dirty="0">
                <a:solidFill>
                  <a:srgbClr val="B6B6B7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EYEBROW · MONO 14</a:t>
            </a:r>
            <a:endParaRPr lang="en-US" sz="550" dirty="0"/>
          </a:p>
        </p:txBody>
      </p:sp>
      <p:sp>
        <p:nvSpPr>
          <p:cNvPr id="8" name="Text 5"/>
          <p:cNvSpPr txBox="1"/>
          <p:nvPr/>
        </p:nvSpPr>
        <p:spPr>
          <a:xfrm>
            <a:off x="3609686" y="2471378"/>
            <a:ext cx="245808" cy="102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550" spc="44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24</a:t>
            </a:r>
            <a:endParaRPr lang="en-US" sz="550" dirty="0"/>
          </a:p>
        </p:txBody>
      </p:sp>
      <p:sp>
        <p:nvSpPr>
          <p:cNvPr id="9" name="Text 6"/>
          <p:cNvSpPr txBox="1"/>
          <p:nvPr/>
        </p:nvSpPr>
        <p:spPr>
          <a:xfrm>
            <a:off x="1132752" y="2656317"/>
            <a:ext cx="898899" cy="273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550" spc="44" kern="0" dirty="0">
                <a:solidFill>
                  <a:srgbClr val="B6B6B7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TITLE · H1 56</a:t>
            </a:r>
            <a:endParaRPr lang="en-US" sz="550" dirty="0"/>
          </a:p>
        </p:txBody>
      </p:sp>
      <p:sp>
        <p:nvSpPr>
          <p:cNvPr id="10" name="Text 7"/>
          <p:cNvSpPr txBox="1"/>
          <p:nvPr/>
        </p:nvSpPr>
        <p:spPr>
          <a:xfrm>
            <a:off x="3609686" y="2846912"/>
            <a:ext cx="245808" cy="102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550" spc="44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24</a:t>
            </a:r>
            <a:endParaRPr lang="en-US" sz="550" dirty="0"/>
          </a:p>
        </p:txBody>
      </p:sp>
      <p:sp>
        <p:nvSpPr>
          <p:cNvPr id="11" name="Text 8"/>
          <p:cNvSpPr txBox="1"/>
          <p:nvPr/>
        </p:nvSpPr>
        <p:spPr>
          <a:xfrm>
            <a:off x="1132752" y="3038201"/>
            <a:ext cx="1076993" cy="281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550" spc="44" kern="0" dirty="0">
                <a:solidFill>
                  <a:srgbClr val="B6B6B7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LEDE · BODY L 22</a:t>
            </a:r>
            <a:endParaRPr lang="en-US" sz="550" dirty="0"/>
          </a:p>
        </p:txBody>
      </p:sp>
      <p:sp>
        <p:nvSpPr>
          <p:cNvPr id="12" name="Text 9"/>
          <p:cNvSpPr txBox="1"/>
          <p:nvPr/>
        </p:nvSpPr>
        <p:spPr>
          <a:xfrm>
            <a:off x="3609686" y="3243578"/>
            <a:ext cx="245808" cy="136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550" spc="44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32</a:t>
            </a:r>
            <a:endParaRPr lang="en-US" sz="550" dirty="0"/>
          </a:p>
        </p:txBody>
      </p:sp>
      <p:sp>
        <p:nvSpPr>
          <p:cNvPr id="13" name="Text 10"/>
          <p:cNvSpPr txBox="1"/>
          <p:nvPr/>
        </p:nvSpPr>
        <p:spPr>
          <a:xfrm>
            <a:off x="1132752" y="3354701"/>
            <a:ext cx="1230654" cy="853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70"/>
              </a:lnSpc>
              <a:buNone/>
            </a:pPr>
            <a:r>
              <a:rPr lang="en-US" sz="550" spc="44" kern="0" dirty="0">
                <a:solidFill>
                  <a:srgbClr val="B6B6B7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LINK · BUTTON 16 →</a:t>
            </a:r>
            <a:endParaRPr lang="en-US" sz="550" dirty="0"/>
          </a:p>
        </p:txBody>
      </p:sp>
      <p:sp>
        <p:nvSpPr>
          <p:cNvPr id="14" name="Text 11"/>
          <p:cNvSpPr txBox="1"/>
          <p:nvPr/>
        </p:nvSpPr>
        <p:spPr>
          <a:xfrm>
            <a:off x="3609686" y="3567123"/>
            <a:ext cx="245808" cy="3413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550" spc="44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80</a:t>
            </a:r>
            <a:endParaRPr lang="en-US" sz="550" dirty="0"/>
          </a:p>
        </p:txBody>
      </p:sp>
      <p:sp>
        <p:nvSpPr>
          <p:cNvPr id="15" name="Text 12"/>
          <p:cNvSpPr txBox="1"/>
          <p:nvPr/>
        </p:nvSpPr>
        <p:spPr>
          <a:xfrm>
            <a:off x="1132752" y="4232268"/>
            <a:ext cx="542713" cy="981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730"/>
              </a:lnSpc>
              <a:buNone/>
            </a:pPr>
            <a:r>
              <a:rPr lang="en-US" sz="550" spc="44" kern="0" dirty="0">
                <a:solidFill>
                  <a:srgbClr val="B6B6B7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CONTENT</a:t>
            </a:r>
            <a:endParaRPr lang="en-US" sz="550" dirty="0"/>
          </a:p>
        </p:txBody>
      </p:sp>
      <p:sp>
        <p:nvSpPr>
          <p:cNvPr id="16" name="Text 13"/>
          <p:cNvSpPr txBox="1"/>
          <p:nvPr/>
        </p:nvSpPr>
        <p:spPr>
          <a:xfrm>
            <a:off x="6349841" y="2241494"/>
            <a:ext cx="1031973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页面左右边距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937302" y="2171646"/>
            <a:ext cx="520637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1E5FC8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120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572286" y="2228794"/>
            <a:ext cx="3022524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1920 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屏上内容宽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1680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左右各留约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6%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6349841" y="2743131"/>
            <a:ext cx="730356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板块上下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7937302" y="2673283"/>
            <a:ext cx="523738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1E5FC8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140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572286" y="2755831"/>
            <a:ext cx="1270092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屏与屏之间留出停顿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6349841" y="3244769"/>
            <a:ext cx="1078357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标题组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→ 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内容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937302" y="3174921"/>
            <a:ext cx="427994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1E5FC8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80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572286" y="3232069"/>
            <a:ext cx="3022524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先读标题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再看内容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6349841" y="3746406"/>
            <a:ext cx="1229166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导语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→ 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文字链接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937302" y="3676558"/>
            <a:ext cx="419933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1E5FC8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32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8572286" y="3759106"/>
            <a:ext cx="1016099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读完介绍就能点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6349841" y="4248044"/>
            <a:ext cx="1426482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眉标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→ 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标题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→ 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导语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937302" y="4178196"/>
            <a:ext cx="424522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1E5FC8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24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572286" y="4260743"/>
            <a:ext cx="1016099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同一组信息靠近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6349841" y="4749681"/>
            <a:ext cx="730356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卡片间距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7937302" y="4679833"/>
            <a:ext cx="363256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1E5FC8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12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8572286" y="4762381"/>
            <a:ext cx="635108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卡片成组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6349841" y="5251319"/>
            <a:ext cx="927548" cy="150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文字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→ </a:t>
            </a:r>
            <a:pPr algn="l" indent="0" marL="0">
              <a:lnSpc>
                <a:spcPts val="1190"/>
              </a:lnSpc>
              <a:buNone/>
            </a:pPr>
            <a:r>
              <a:rPr lang="en-US" sz="95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箭头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7937302" y="5181470"/>
            <a:ext cx="373549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500" dirty="0">
                <a:solidFill>
                  <a:srgbClr val="1E5FC8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10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8572286" y="5264018"/>
            <a:ext cx="889102" cy="1269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箭头跟着文字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6349841" y="5676758"/>
            <a:ext cx="5333867" cy="238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所有间距都是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8 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的倍数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（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或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4 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的细分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）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开发可以直接写成变量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各国站沿用时不会走样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39" name="Text 36"/>
          <p:cNvSpPr txBox="1"/>
          <p:nvPr/>
        </p:nvSpPr>
        <p:spPr>
          <a:xfrm>
            <a:off x="10756036" y="355591"/>
            <a:ext cx="969095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— SPACING</a:t>
            </a:r>
            <a:endParaRPr lang="en-US" sz="650" dirty="0"/>
          </a:p>
        </p:txBody>
      </p:sp>
      <p:sp>
        <p:nvSpPr>
          <p:cNvPr id="40" name="Text 37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41" name="Text 38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14 / 30</a:t>
            </a:r>
            <a:endParaRPr lang="en-US" sz="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336071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— INTERACTION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悬停效果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只变颜色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1562061"/>
            <a:ext cx="7843324" cy="426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悬停时不加底色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不加粗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全站统一用品牌蓝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#1E5FC8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颜色过渡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200ms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；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图片放大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400ms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990575" y="2819330"/>
            <a:ext cx="1228173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5A5F6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TEXT LINK · LIGHT</a:t>
            </a:r>
            <a:endParaRPr lang="en-US" sz="600" dirty="0"/>
          </a:p>
        </p:txBody>
      </p:sp>
      <p:sp>
        <p:nvSpPr>
          <p:cNvPr id="7" name="Text 4"/>
          <p:cNvSpPr txBox="1"/>
          <p:nvPr/>
        </p:nvSpPr>
        <p:spPr>
          <a:xfrm>
            <a:off x="990575" y="3105072"/>
            <a:ext cx="76318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0A0A0B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Our Story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90575" y="3333667"/>
            <a:ext cx="542713" cy="87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0"/>
              </a:lnSpc>
              <a:buNone/>
            </a:pPr>
            <a:r>
              <a:rPr lang="en-US" sz="550" spc="44" kern="0" dirty="0">
                <a:solidFill>
                  <a:srgbClr val="8A8F9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DEFAULT</a:t>
            </a:r>
            <a:endParaRPr lang="en-US" sz="550" dirty="0"/>
          </a:p>
        </p:txBody>
      </p:sp>
      <p:sp>
        <p:nvSpPr>
          <p:cNvPr id="9" name="Text 6"/>
          <p:cNvSpPr txBox="1"/>
          <p:nvPr/>
        </p:nvSpPr>
        <p:spPr>
          <a:xfrm>
            <a:off x="2031155" y="3092373"/>
            <a:ext cx="957381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1E5FC8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Our Story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31155" y="3333667"/>
            <a:ext cx="1216640" cy="87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0"/>
              </a:lnSpc>
              <a:buNone/>
            </a:pPr>
            <a:r>
              <a:rPr lang="en-US" sz="550" spc="44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HOVER · </a:t>
            </a:r>
            <a:pPr algn="l" indent="0" marL="0">
              <a:lnSpc>
                <a:spcPts val="690"/>
              </a:lnSpc>
              <a:buNone/>
            </a:pPr>
            <a:r>
              <a:rPr lang="en-US" sz="550" spc="44" kern="0" dirty="0">
                <a:solidFill>
                  <a:srgbClr val="1E5FC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箭头右移</a:t>
            </a:r>
            <a:pPr algn="l" indent="0" marL="0">
              <a:lnSpc>
                <a:spcPts val="690"/>
              </a:lnSpc>
              <a:buNone/>
            </a:pPr>
            <a:r>
              <a:rPr lang="en-US" sz="550" spc="44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4PX</a:t>
            </a:r>
            <a:endParaRPr lang="en-US" sz="550" dirty="0"/>
          </a:p>
        </p:txBody>
      </p:sp>
      <p:sp>
        <p:nvSpPr>
          <p:cNvPr id="11" name="Text 8"/>
          <p:cNvSpPr txBox="1"/>
          <p:nvPr/>
        </p:nvSpPr>
        <p:spPr>
          <a:xfrm>
            <a:off x="6387940" y="2819330"/>
            <a:ext cx="1228173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NAVIGATION · DARK</a:t>
            </a:r>
            <a:endParaRPr lang="en-US" sz="600" dirty="0"/>
          </a:p>
        </p:txBody>
      </p:sp>
      <p:sp>
        <p:nvSpPr>
          <p:cNvPr id="12" name="Text 9"/>
          <p:cNvSpPr txBox="1"/>
          <p:nvPr/>
        </p:nvSpPr>
        <p:spPr>
          <a:xfrm>
            <a:off x="6387940" y="3105072"/>
            <a:ext cx="689553" cy="142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F3F3F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Vehicles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6387940" y="3409865"/>
            <a:ext cx="542713" cy="87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0"/>
              </a:lnSpc>
              <a:buNone/>
            </a:pPr>
            <a:r>
              <a:rPr lang="en-US" sz="550" spc="44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DEFAULT</a:t>
            </a:r>
            <a:endParaRPr lang="en-US" sz="550" dirty="0"/>
          </a:p>
        </p:txBody>
      </p:sp>
      <p:sp>
        <p:nvSpPr>
          <p:cNvPr id="14" name="Text 11"/>
          <p:cNvSpPr txBox="1"/>
          <p:nvPr/>
        </p:nvSpPr>
        <p:spPr>
          <a:xfrm>
            <a:off x="7193576" y="3092373"/>
            <a:ext cx="689553" cy="142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1E5FC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Vehicles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7193576" y="3409865"/>
            <a:ext cx="1122384" cy="87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0"/>
              </a:lnSpc>
              <a:buNone/>
            </a:pPr>
            <a:r>
              <a:rPr lang="en-US" sz="550" spc="44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HOVER · 2PX </a:t>
            </a:r>
            <a:pPr algn="l" indent="0" marL="0">
              <a:lnSpc>
                <a:spcPts val="690"/>
              </a:lnSpc>
              <a:buNone/>
            </a:pPr>
            <a:r>
              <a:rPr lang="en-US" sz="550" spc="44" kern="0" dirty="0">
                <a:solidFill>
                  <a:srgbClr val="1E5FC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下划线</a:t>
            </a:r>
            <a:endParaRPr lang="en-US" sz="550" dirty="0"/>
          </a:p>
        </p:txBody>
      </p:sp>
      <p:sp>
        <p:nvSpPr>
          <p:cNvPr id="16" name="Text 13"/>
          <p:cNvSpPr txBox="1"/>
          <p:nvPr/>
        </p:nvSpPr>
        <p:spPr>
          <a:xfrm>
            <a:off x="990575" y="4057549"/>
            <a:ext cx="1357651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5A5F6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VEHICLE TAB · LIGHT</a:t>
            </a:r>
            <a:endParaRPr lang="en-US" sz="600" dirty="0"/>
          </a:p>
        </p:txBody>
      </p:sp>
      <p:sp>
        <p:nvSpPr>
          <p:cNvPr id="17" name="Text 14"/>
          <p:cNvSpPr txBox="1"/>
          <p:nvPr/>
        </p:nvSpPr>
        <p:spPr>
          <a:xfrm>
            <a:off x="990575" y="4330592"/>
            <a:ext cx="649867" cy="142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A5F68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Pickups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990575" y="4635384"/>
            <a:ext cx="542713" cy="87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0"/>
              </a:lnSpc>
              <a:buNone/>
            </a:pPr>
            <a:r>
              <a:rPr lang="en-US" sz="550" spc="44" kern="0" dirty="0">
                <a:solidFill>
                  <a:srgbClr val="8A8F9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DEFAULT</a:t>
            </a:r>
            <a:endParaRPr lang="en-US" sz="550" dirty="0"/>
          </a:p>
        </p:txBody>
      </p:sp>
      <p:sp>
        <p:nvSpPr>
          <p:cNvPr id="19" name="Text 16"/>
          <p:cNvSpPr txBox="1"/>
          <p:nvPr/>
        </p:nvSpPr>
        <p:spPr>
          <a:xfrm>
            <a:off x="1764462" y="4330592"/>
            <a:ext cx="649867" cy="142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1E5FC8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Pickups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764462" y="4635384"/>
            <a:ext cx="423902" cy="87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0"/>
              </a:lnSpc>
              <a:buNone/>
            </a:pPr>
            <a:r>
              <a:rPr lang="en-US" sz="550" spc="44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HOVER</a:t>
            </a:r>
            <a:endParaRPr lang="en-US" sz="550" dirty="0"/>
          </a:p>
        </p:txBody>
      </p:sp>
      <p:sp>
        <p:nvSpPr>
          <p:cNvPr id="21" name="Text 18"/>
          <p:cNvSpPr txBox="1"/>
          <p:nvPr/>
        </p:nvSpPr>
        <p:spPr>
          <a:xfrm>
            <a:off x="2538349" y="4330592"/>
            <a:ext cx="671694" cy="1428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0A0A0B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Pickups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538349" y="4635384"/>
            <a:ext cx="601995" cy="87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0"/>
              </a:lnSpc>
              <a:buNone/>
            </a:pPr>
            <a:r>
              <a:rPr lang="en-US" sz="550" spc="44" kern="0" dirty="0">
                <a:solidFill>
                  <a:srgbClr val="0A0A0B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SELECTED</a:t>
            </a:r>
            <a:endParaRPr lang="en-US" sz="550" dirty="0"/>
          </a:p>
        </p:txBody>
      </p:sp>
      <p:sp>
        <p:nvSpPr>
          <p:cNvPr id="23" name="Text 20"/>
          <p:cNvSpPr txBox="1"/>
          <p:nvPr/>
        </p:nvSpPr>
        <p:spPr>
          <a:xfrm>
            <a:off x="6387940" y="4057549"/>
            <a:ext cx="1422389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SOCIAL · PLAY · DARK</a:t>
            </a:r>
            <a:endParaRPr lang="en-US" sz="600" dirty="0"/>
          </a:p>
        </p:txBody>
      </p:sp>
      <p:sp>
        <p:nvSpPr>
          <p:cNvPr id="24" name="Text 21"/>
          <p:cNvSpPr txBox="1"/>
          <p:nvPr/>
        </p:nvSpPr>
        <p:spPr>
          <a:xfrm>
            <a:off x="8750081" y="4514737"/>
            <a:ext cx="979141" cy="87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0"/>
              </a:lnSpc>
              <a:buNone/>
            </a:pPr>
            <a:r>
              <a:rPr lang="en-US" sz="550" spc="44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HOVER · </a:t>
            </a:r>
            <a:pPr algn="l" indent="0" marL="0">
              <a:lnSpc>
                <a:spcPts val="690"/>
              </a:lnSpc>
              <a:buNone/>
            </a:pPr>
            <a:r>
              <a:rPr lang="en-US" sz="550" spc="44" kern="0" dirty="0">
                <a:solidFill>
                  <a:srgbClr val="1E5FC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描边变蓝</a:t>
            </a:r>
            <a:endParaRPr lang="en-US" sz="550" dirty="0"/>
          </a:p>
        </p:txBody>
      </p:sp>
      <p:sp>
        <p:nvSpPr>
          <p:cNvPr id="25" name="Text 22"/>
          <p:cNvSpPr txBox="1"/>
          <p:nvPr/>
        </p:nvSpPr>
        <p:spPr>
          <a:xfrm>
            <a:off x="761981" y="5714857"/>
            <a:ext cx="4947852" cy="238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依据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会议纪要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“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参考奔驰的按钮悬停反馈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”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Figma 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中已建可交互组件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“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MAXUS / 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文字链接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（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含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Hover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）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”</a:t>
            </a:r>
            <a:pPr algn="l" indent="0" marL="0">
              <a:lnSpc>
                <a:spcPts val="940"/>
              </a:lnSpc>
              <a:buNone/>
            </a:pPr>
            <a:r>
              <a:rPr lang="en-US" sz="75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10868349" y="355591"/>
            <a:ext cx="828704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— HOVER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9" name="Text 26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15 / 30</a:t>
            </a:r>
            <a:endParaRPr lang="en-US" sz="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8483" y="1473163"/>
            <a:ext cx="2535348" cy="1650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0"/>
              </a:lnSpc>
              <a:buNone/>
            </a:pPr>
            <a:r>
              <a:rPr lang="en-US" sz="13000" spc="-650" kern="0" dirty="0">
                <a:solidFill>
                  <a:srgbClr val="ECECEC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3676558"/>
            <a:ext cx="2666933" cy="634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0"/>
              </a:lnSpc>
              <a:buNone/>
            </a:pPr>
            <a:r>
              <a:rPr lang="en-US" sz="400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逐屏说明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87380" y="4381390"/>
            <a:ext cx="1928268" cy="158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A0A0A0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Screen by Screen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2620674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01 ANNOUNCEMENT &amp; NAVIGATION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公告栏与导航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口号放第一行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，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导航用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 18px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3157756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600" dirty="0"/>
          </a:p>
        </p:txBody>
      </p:sp>
      <p:sp>
        <p:nvSpPr>
          <p:cNvPr id="6" name="Text 3"/>
          <p:cNvSpPr txBox="1"/>
          <p:nvPr/>
        </p:nvSpPr>
        <p:spPr>
          <a:xfrm>
            <a:off x="761981" y="3322852"/>
            <a:ext cx="627047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公告栏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761981" y="3528230"/>
            <a:ext cx="869259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BODY S · 16</a:t>
            </a:r>
            <a:endParaRPr lang="en-US" sz="630" dirty="0"/>
          </a:p>
        </p:txBody>
      </p:sp>
      <p:sp>
        <p:nvSpPr>
          <p:cNvPr id="8" name="Text 5"/>
          <p:cNvSpPr txBox="1"/>
          <p:nvPr/>
        </p:nvSpPr>
        <p:spPr>
          <a:xfrm>
            <a:off x="761981" y="3680626"/>
            <a:ext cx="1973753" cy="885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第一行放口号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Drive the Charge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两侧细箭头取自新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Logo 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向前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向上的造型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做细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做渐隐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不抢首屏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2966566" y="3157756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2966566" y="3322852"/>
            <a:ext cx="892078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横版</a:t>
            </a:r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 Logo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966566" y="3528230"/>
            <a:ext cx="869259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HEIGHT 24PX</a:t>
            </a:r>
            <a:endParaRPr lang="en-US" sz="630" dirty="0"/>
          </a:p>
        </p:txBody>
      </p:sp>
      <p:sp>
        <p:nvSpPr>
          <p:cNvPr id="12" name="Text 9"/>
          <p:cNvSpPr txBox="1"/>
          <p:nvPr/>
        </p:nvSpPr>
        <p:spPr>
          <a:xfrm>
            <a:off x="2966566" y="3680626"/>
            <a:ext cx="1973856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按品牌规范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高度有限的位置用横版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和导航文字对齐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5171251" y="3157756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600" dirty="0"/>
          </a:p>
        </p:txBody>
      </p:sp>
      <p:sp>
        <p:nvSpPr>
          <p:cNvPr id="14" name="Text 11"/>
          <p:cNvSpPr txBox="1"/>
          <p:nvPr/>
        </p:nvSpPr>
        <p:spPr>
          <a:xfrm>
            <a:off x="5171251" y="3322852"/>
            <a:ext cx="460363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导航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171251" y="3528230"/>
            <a:ext cx="1341528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GEIST REGULAR · 18</a:t>
            </a:r>
            <a:endParaRPr lang="en-US" sz="630" dirty="0"/>
          </a:p>
        </p:txBody>
      </p:sp>
      <p:sp>
        <p:nvSpPr>
          <p:cNvPr id="16" name="Text 13"/>
          <p:cNvSpPr txBox="1"/>
          <p:nvPr/>
        </p:nvSpPr>
        <p:spPr>
          <a:xfrm>
            <a:off x="5171251" y="3680626"/>
            <a:ext cx="1973856" cy="885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原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16px 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在大屏偏小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改为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18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不加粗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避免压在视频上太重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5 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个入口居中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间距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34px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7375936" y="3157756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600" dirty="0"/>
          </a:p>
        </p:txBody>
      </p:sp>
      <p:sp>
        <p:nvSpPr>
          <p:cNvPr id="18" name="Text 15"/>
          <p:cNvSpPr txBox="1"/>
          <p:nvPr/>
        </p:nvSpPr>
        <p:spPr>
          <a:xfrm>
            <a:off x="7375936" y="3322852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工具图标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7375936" y="3540929"/>
            <a:ext cx="1218500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20PX · 1.5PX </a:t>
            </a:r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线宽</a:t>
            </a:r>
            <a:endParaRPr lang="en-US" sz="630" dirty="0"/>
          </a:p>
        </p:txBody>
      </p:sp>
      <p:sp>
        <p:nvSpPr>
          <p:cNvPr id="20" name="Text 17"/>
          <p:cNvSpPr txBox="1"/>
          <p:nvPr/>
        </p:nvSpPr>
        <p:spPr>
          <a:xfrm>
            <a:off x="7375936" y="3693326"/>
            <a:ext cx="1973856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搜索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下载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账户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与全站箭头图标同一套样式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9580621" y="3157756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</a:t>
            </a:r>
            <a:endParaRPr lang="en-US" sz="600" dirty="0"/>
          </a:p>
        </p:txBody>
      </p:sp>
      <p:sp>
        <p:nvSpPr>
          <p:cNvPr id="22" name="Text 19"/>
          <p:cNvSpPr txBox="1"/>
          <p:nvPr/>
        </p:nvSpPr>
        <p:spPr>
          <a:xfrm>
            <a:off x="9580621" y="3322852"/>
            <a:ext cx="627047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分隔线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9580621" y="3528230"/>
            <a:ext cx="1139127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1PX · WHITE 12%</a:t>
            </a:r>
            <a:endParaRPr lang="en-US" sz="630" dirty="0"/>
          </a:p>
        </p:txBody>
      </p:sp>
      <p:sp>
        <p:nvSpPr>
          <p:cNvPr id="24" name="Text 21"/>
          <p:cNvSpPr txBox="1"/>
          <p:nvPr/>
        </p:nvSpPr>
        <p:spPr>
          <a:xfrm>
            <a:off x="9580621" y="3680626"/>
            <a:ext cx="1973856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导航背景透明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只加一条很淡的线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不用实色底条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首屏画面更完整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6" name="Text 23"/>
          <p:cNvSpPr txBox="1"/>
          <p:nvPr/>
        </p:nvSpPr>
        <p:spPr>
          <a:xfrm>
            <a:off x="10587666" y="355591"/>
            <a:ext cx="1179557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NAVIGATION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17 / 30</a:t>
            </a:r>
            <a:endParaRPr lang="en-US" sz="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033834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01 HERO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首屏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一句标题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 + 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三条品牌信息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8826279" y="2095448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600" dirty="0"/>
          </a:p>
        </p:txBody>
      </p:sp>
      <p:sp>
        <p:nvSpPr>
          <p:cNvPr id="6" name="Text 3"/>
          <p:cNvSpPr txBox="1"/>
          <p:nvPr/>
        </p:nvSpPr>
        <p:spPr>
          <a:xfrm>
            <a:off x="8826279" y="2260543"/>
            <a:ext cx="627047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主标题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826279" y="2465921"/>
            <a:ext cx="1071660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DISPLAY L · 72</a:t>
            </a:r>
            <a:endParaRPr lang="en-US" sz="630" dirty="0"/>
          </a:p>
        </p:txBody>
      </p:sp>
      <p:sp>
        <p:nvSpPr>
          <p:cNvPr id="8" name="Text 5"/>
          <p:cNvSpPr txBox="1"/>
          <p:nvPr/>
        </p:nvSpPr>
        <p:spPr>
          <a:xfrm>
            <a:off x="8826279" y="2618317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全页只有这里用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72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一行居中放在画面下方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上方留给车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826279" y="2959026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8826279" y="3124122"/>
            <a:ext cx="1311143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European-born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26279" y="3329500"/>
            <a:ext cx="869259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BODY M · 20</a:t>
            </a:r>
            <a:endParaRPr lang="en-US" sz="630" dirty="0"/>
          </a:p>
        </p:txBody>
      </p:sp>
      <p:sp>
        <p:nvSpPr>
          <p:cNvPr id="12" name="Text 9"/>
          <p:cNvSpPr txBox="1"/>
          <p:nvPr/>
        </p:nvSpPr>
        <p:spPr>
          <a:xfrm>
            <a:off x="8826279" y="3481896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来自品牌定位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European-born commercial vehicle brand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8826279" y="3822604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600" dirty="0"/>
          </a:p>
        </p:txBody>
      </p:sp>
      <p:sp>
        <p:nvSpPr>
          <p:cNvPr id="14" name="Text 11"/>
          <p:cNvSpPr txBox="1"/>
          <p:nvPr/>
        </p:nvSpPr>
        <p:spPr>
          <a:xfrm>
            <a:off x="8826279" y="3987700"/>
            <a:ext cx="1127097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一句话产品线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826279" y="4193078"/>
            <a:ext cx="869259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BODY M · 20</a:t>
            </a:r>
            <a:endParaRPr lang="en-US" sz="630" dirty="0"/>
          </a:p>
        </p:txBody>
      </p:sp>
      <p:sp>
        <p:nvSpPr>
          <p:cNvPr id="16" name="Text 13"/>
          <p:cNvSpPr txBox="1"/>
          <p:nvPr/>
        </p:nvSpPr>
        <p:spPr>
          <a:xfrm>
            <a:off x="8826279" y="4345474"/>
            <a:ext cx="2758371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从轻客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皮卡到重卡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纯电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混动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柴油都有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来自品牌方案的标准介绍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8826279" y="4686183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600" dirty="0"/>
          </a:p>
        </p:txBody>
      </p:sp>
      <p:sp>
        <p:nvSpPr>
          <p:cNvPr id="18" name="Text 15"/>
          <p:cNvSpPr txBox="1"/>
          <p:nvPr/>
        </p:nvSpPr>
        <p:spPr>
          <a:xfrm>
            <a:off x="8826279" y="4851279"/>
            <a:ext cx="1691265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Heritage since 1896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826279" y="5056656"/>
            <a:ext cx="869259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BODY M · 20</a:t>
            </a:r>
            <a:endParaRPr lang="en-US" sz="630" dirty="0"/>
          </a:p>
        </p:txBody>
      </p:sp>
      <p:sp>
        <p:nvSpPr>
          <p:cNvPr id="20" name="Text 17"/>
          <p:cNvSpPr txBox="1"/>
          <p:nvPr/>
        </p:nvSpPr>
        <p:spPr>
          <a:xfrm>
            <a:off x="8826279" y="5209053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品牌方案提出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欧洲血统是海外用户建立信任最快的方式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8826279" y="5549761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</a:t>
            </a:r>
            <a:endParaRPr lang="en-US" sz="600" dirty="0"/>
          </a:p>
        </p:txBody>
      </p:sp>
      <p:sp>
        <p:nvSpPr>
          <p:cNvPr id="22" name="Text 19"/>
          <p:cNvSpPr txBox="1"/>
          <p:nvPr/>
        </p:nvSpPr>
        <p:spPr>
          <a:xfrm>
            <a:off x="8826279" y="5714857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首屏视频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26279" y="5920235"/>
            <a:ext cx="464456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VIDEO</a:t>
            </a:r>
            <a:endParaRPr lang="en-US" sz="630" dirty="0"/>
          </a:p>
        </p:txBody>
      </p:sp>
      <p:sp>
        <p:nvSpPr>
          <p:cNvPr id="24" name="Text 21"/>
          <p:cNvSpPr txBox="1"/>
          <p:nvPr/>
        </p:nvSpPr>
        <p:spPr>
          <a:xfrm>
            <a:off x="8826279" y="6072631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当前车型是参考素材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正式版需换成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MAXUS 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实拍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6" name="Text 23"/>
          <p:cNvSpPr txBox="1"/>
          <p:nvPr/>
        </p:nvSpPr>
        <p:spPr>
          <a:xfrm>
            <a:off x="10924505" y="355591"/>
            <a:ext cx="758508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HERO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18 / 30</a:t>
            </a:r>
            <a:endParaRPr lang="en-US" sz="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638309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02 GLOBAL · 1/3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全球板块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1/3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地球自转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8826279" y="2095448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600" dirty="0"/>
          </a:p>
        </p:txBody>
      </p:sp>
      <p:sp>
        <p:nvSpPr>
          <p:cNvPr id="6" name="Text 3"/>
          <p:cNvSpPr txBox="1"/>
          <p:nvPr/>
        </p:nvSpPr>
        <p:spPr>
          <a:xfrm>
            <a:off x="8826279" y="2260543"/>
            <a:ext cx="129378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标题叠在地球上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826279" y="2465921"/>
            <a:ext cx="599390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H1 · 56</a:t>
            </a:r>
            <a:endParaRPr lang="en-US" sz="630" dirty="0"/>
          </a:p>
        </p:txBody>
      </p:sp>
      <p:sp>
        <p:nvSpPr>
          <p:cNvPr id="8" name="Text 5"/>
          <p:cNvSpPr txBox="1"/>
          <p:nvPr/>
        </p:nvSpPr>
        <p:spPr>
          <a:xfrm>
            <a:off x="8826279" y="2618317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一眼看出这一屏讲全球布局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826279" y="3174921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8826279" y="3340016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点阵地球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26279" y="3545394"/>
            <a:ext cx="1341528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GLOBE OCEAN / LAND</a:t>
            </a:r>
            <a:endParaRPr lang="en-US" sz="630" dirty="0"/>
          </a:p>
        </p:txBody>
      </p:sp>
      <p:sp>
        <p:nvSpPr>
          <p:cNvPr id="12" name="Text 9"/>
          <p:cNvSpPr txBox="1"/>
          <p:nvPr/>
        </p:nvSpPr>
        <p:spPr>
          <a:xfrm>
            <a:off x="8826279" y="3697790"/>
            <a:ext cx="2758371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陆地用细点阵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呼应新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Logo 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的细线条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蓝绿色只用在地球上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8826279" y="4254394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600" dirty="0"/>
          </a:p>
        </p:txBody>
      </p:sp>
      <p:sp>
        <p:nvSpPr>
          <p:cNvPr id="14" name="Text 11"/>
          <p:cNvSpPr txBox="1"/>
          <p:nvPr/>
        </p:nvSpPr>
        <p:spPr>
          <a:xfrm>
            <a:off x="8826279" y="4419490"/>
            <a:ext cx="627047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定位点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826279" y="4624867"/>
            <a:ext cx="396989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ICON</a:t>
            </a:r>
            <a:endParaRPr lang="en-US" sz="630" dirty="0"/>
          </a:p>
        </p:txBody>
      </p:sp>
      <p:sp>
        <p:nvSpPr>
          <p:cNvPr id="16" name="Text 13"/>
          <p:cNvSpPr txBox="1"/>
          <p:nvPr/>
        </p:nvSpPr>
        <p:spPr>
          <a:xfrm>
            <a:off x="8826279" y="4777263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方框样式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和全站图标一致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8826279" y="5333867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600" dirty="0"/>
          </a:p>
        </p:txBody>
      </p:sp>
      <p:sp>
        <p:nvSpPr>
          <p:cNvPr id="18" name="Text 15"/>
          <p:cNvSpPr txBox="1"/>
          <p:nvPr/>
        </p:nvSpPr>
        <p:spPr>
          <a:xfrm>
            <a:off x="8826279" y="5498963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定位提示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826279" y="5704340"/>
            <a:ext cx="1071660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DATA MONO · 14</a:t>
            </a:r>
            <a:endParaRPr lang="en-US" sz="630" dirty="0"/>
          </a:p>
        </p:txBody>
      </p:sp>
      <p:sp>
        <p:nvSpPr>
          <p:cNvPr id="20" name="Text 17"/>
          <p:cNvSpPr txBox="1"/>
          <p:nvPr/>
        </p:nvSpPr>
        <p:spPr>
          <a:xfrm>
            <a:off x="8826279" y="5856736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进入时后台按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IP 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识别国家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这行小字提示正在定位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2" name="Text 19"/>
          <p:cNvSpPr txBox="1"/>
          <p:nvPr/>
        </p:nvSpPr>
        <p:spPr>
          <a:xfrm>
            <a:off x="10587666" y="355591"/>
            <a:ext cx="1179557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GLOBAL 1/3</a:t>
            </a:r>
            <a:endParaRPr lang="en-US" sz="650" dirty="0"/>
          </a:p>
        </p:txBody>
      </p:sp>
      <p:sp>
        <p:nvSpPr>
          <p:cNvPr id="23" name="Text 20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4" name="Text 21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19 / 30</a:t>
            </a:r>
            <a:endParaRPr lang="en-US" sz="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638309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02 GLOBAL · 2/3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全球板块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2/3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定位到用户所在国家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8826279" y="2095448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600" dirty="0"/>
          </a:p>
        </p:txBody>
      </p:sp>
      <p:sp>
        <p:nvSpPr>
          <p:cNvPr id="6" name="Text 3"/>
          <p:cNvSpPr txBox="1"/>
          <p:nvPr/>
        </p:nvSpPr>
        <p:spPr>
          <a:xfrm>
            <a:off x="8826279" y="2260543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定位光环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826279" y="2465921"/>
            <a:ext cx="396989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RING</a:t>
            </a:r>
            <a:endParaRPr lang="en-US" sz="630" dirty="0"/>
          </a:p>
        </p:txBody>
      </p:sp>
      <p:sp>
        <p:nvSpPr>
          <p:cNvPr id="8" name="Text 5"/>
          <p:cNvSpPr txBox="1"/>
          <p:nvPr/>
        </p:nvSpPr>
        <p:spPr>
          <a:xfrm>
            <a:off x="8826279" y="2618317"/>
            <a:ext cx="2758371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地球转到用户所在国家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（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示例为英国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）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后停住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两圈细光环标出位置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826279" y="3174921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8826279" y="3340016"/>
            <a:ext cx="1127097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本地用车照片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26279" y="3545394"/>
            <a:ext cx="1071660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4 PHOTOS · CMS</a:t>
            </a:r>
            <a:endParaRPr lang="en-US" sz="630" dirty="0"/>
          </a:p>
        </p:txBody>
      </p:sp>
      <p:sp>
        <p:nvSpPr>
          <p:cNvPr id="12" name="Text 9"/>
          <p:cNvSpPr txBox="1"/>
          <p:nvPr/>
        </p:nvSpPr>
        <p:spPr>
          <a:xfrm>
            <a:off x="8826279" y="3697790"/>
            <a:ext cx="2758371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配送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木工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花店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接送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对应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9/24 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会议的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Global Brand, Local Action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8826279" y="4254394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600" dirty="0"/>
          </a:p>
        </p:txBody>
      </p:sp>
      <p:sp>
        <p:nvSpPr>
          <p:cNvPr id="14" name="Text 11"/>
          <p:cNvSpPr txBox="1"/>
          <p:nvPr/>
        </p:nvSpPr>
        <p:spPr>
          <a:xfrm>
            <a:off x="8826279" y="4419490"/>
            <a:ext cx="627047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连接线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826279" y="4624867"/>
            <a:ext cx="1139127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1PX · WHITE 22%</a:t>
            </a:r>
            <a:endParaRPr lang="en-US" sz="630" dirty="0"/>
          </a:p>
        </p:txBody>
      </p:sp>
      <p:sp>
        <p:nvSpPr>
          <p:cNvPr id="16" name="Text 13"/>
          <p:cNvSpPr txBox="1"/>
          <p:nvPr/>
        </p:nvSpPr>
        <p:spPr>
          <a:xfrm>
            <a:off x="8826279" y="4777263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把照片连回定位点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说明这些场景就在用户所在国家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8826279" y="5333867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600" dirty="0"/>
          </a:p>
        </p:txBody>
      </p:sp>
      <p:sp>
        <p:nvSpPr>
          <p:cNvPr id="18" name="Text 15"/>
          <p:cNvSpPr txBox="1"/>
          <p:nvPr/>
        </p:nvSpPr>
        <p:spPr>
          <a:xfrm>
            <a:off x="8826279" y="5498963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地点标注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826279" y="5704340"/>
            <a:ext cx="1071660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DATA MONO · 14</a:t>
            </a:r>
            <a:endParaRPr lang="en-US" sz="630" dirty="0"/>
          </a:p>
        </p:txBody>
      </p:sp>
      <p:sp>
        <p:nvSpPr>
          <p:cNvPr id="20" name="Text 17"/>
          <p:cNvSpPr txBox="1"/>
          <p:nvPr/>
        </p:nvSpPr>
        <p:spPr>
          <a:xfrm>
            <a:off x="8826279" y="5856736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只标城市名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不放大段文字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2" name="Text 19"/>
          <p:cNvSpPr txBox="1"/>
          <p:nvPr/>
        </p:nvSpPr>
        <p:spPr>
          <a:xfrm>
            <a:off x="10587666" y="355591"/>
            <a:ext cx="1179557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GLOBAL 2/3</a:t>
            </a:r>
            <a:endParaRPr lang="en-US" sz="650" dirty="0"/>
          </a:p>
        </p:txBody>
      </p:sp>
      <p:sp>
        <p:nvSpPr>
          <p:cNvPr id="23" name="Text 20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4" name="Text 21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20 / 30</a:t>
            </a:r>
            <a:endParaRPr lang="en-US" sz="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638309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02 GLOBAL · 3/3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全球板块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3/3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出现三组数据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8826279" y="2095448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600" dirty="0"/>
          </a:p>
        </p:txBody>
      </p:sp>
      <p:sp>
        <p:nvSpPr>
          <p:cNvPr id="6" name="Text 3"/>
          <p:cNvSpPr txBox="1"/>
          <p:nvPr/>
        </p:nvSpPr>
        <p:spPr>
          <a:xfrm>
            <a:off x="8826279" y="2260543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三组数据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826279" y="2465921"/>
            <a:ext cx="1274061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DATA DISPLAY · 96</a:t>
            </a:r>
            <a:endParaRPr lang="en-US" sz="630" dirty="0"/>
          </a:p>
        </p:txBody>
      </p:sp>
      <p:sp>
        <p:nvSpPr>
          <p:cNvPr id="8" name="Text 5"/>
          <p:cNvSpPr txBox="1"/>
          <p:nvPr/>
        </p:nvSpPr>
        <p:spPr>
          <a:xfrm>
            <a:off x="8826279" y="2618317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1896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100+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1.2M+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用全页最大字号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；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细体避免显得笨重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826279" y="3174921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8826279" y="3340016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竖分隔线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26279" y="3545394"/>
            <a:ext cx="1139127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1PX · WHITE 16%</a:t>
            </a:r>
            <a:endParaRPr lang="en-US" sz="630" dirty="0"/>
          </a:p>
        </p:txBody>
      </p:sp>
      <p:sp>
        <p:nvSpPr>
          <p:cNvPr id="12" name="Text 9"/>
          <p:cNvSpPr txBox="1"/>
          <p:nvPr/>
        </p:nvSpPr>
        <p:spPr>
          <a:xfrm>
            <a:off x="8826279" y="3697790"/>
            <a:ext cx="2758371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没有用磨砂底板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因为底板会把地球切断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数字直接放在深色背景上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8826279" y="4254394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600" dirty="0"/>
          </a:p>
        </p:txBody>
      </p:sp>
      <p:sp>
        <p:nvSpPr>
          <p:cNvPr id="14" name="Text 11"/>
          <p:cNvSpPr txBox="1"/>
          <p:nvPr/>
        </p:nvSpPr>
        <p:spPr>
          <a:xfrm>
            <a:off x="8826279" y="4419490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地球渐隐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826279" y="4624867"/>
            <a:ext cx="666857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GRADIENT</a:t>
            </a:r>
            <a:endParaRPr lang="en-US" sz="630" dirty="0"/>
          </a:p>
        </p:txBody>
      </p:sp>
      <p:sp>
        <p:nvSpPr>
          <p:cNvPr id="16" name="Text 13"/>
          <p:cNvSpPr txBox="1"/>
          <p:nvPr/>
        </p:nvSpPr>
        <p:spPr>
          <a:xfrm>
            <a:off x="8826279" y="4777263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地球下半部逐渐变暗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数字更清楚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8826279" y="5333867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600" dirty="0"/>
          </a:p>
        </p:txBody>
      </p:sp>
      <p:sp>
        <p:nvSpPr>
          <p:cNvPr id="18" name="Text 15"/>
          <p:cNvSpPr txBox="1"/>
          <p:nvPr/>
        </p:nvSpPr>
        <p:spPr>
          <a:xfrm>
            <a:off x="8826279" y="5498963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保留定位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826279" y="5704340"/>
            <a:ext cx="396989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RING</a:t>
            </a:r>
            <a:endParaRPr lang="en-US" sz="630" dirty="0"/>
          </a:p>
        </p:txBody>
      </p:sp>
      <p:sp>
        <p:nvSpPr>
          <p:cNvPr id="20" name="Text 17"/>
          <p:cNvSpPr txBox="1"/>
          <p:nvPr/>
        </p:nvSpPr>
        <p:spPr>
          <a:xfrm>
            <a:off x="8826279" y="5856736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保留用户所在国家的定位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前后画面接得上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2" name="Text 19"/>
          <p:cNvSpPr txBox="1"/>
          <p:nvPr/>
        </p:nvSpPr>
        <p:spPr>
          <a:xfrm>
            <a:off x="10587666" y="355591"/>
            <a:ext cx="1179557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GLOBAL 3/3</a:t>
            </a:r>
            <a:endParaRPr lang="en-US" sz="650" dirty="0"/>
          </a:p>
        </p:txBody>
      </p:sp>
      <p:sp>
        <p:nvSpPr>
          <p:cNvPr id="23" name="Text 20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4" name="Text 21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21 / 30</a:t>
            </a:r>
            <a:endParaRPr lang="en-US" sz="6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336071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03 VEHICLES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车型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按车系展示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，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不放配置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8826279" y="2095448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600" dirty="0"/>
          </a:p>
        </p:txBody>
      </p:sp>
      <p:sp>
        <p:nvSpPr>
          <p:cNvPr id="6" name="Text 3"/>
          <p:cNvSpPr txBox="1"/>
          <p:nvPr/>
        </p:nvSpPr>
        <p:spPr>
          <a:xfrm>
            <a:off x="8826279" y="2260543"/>
            <a:ext cx="1265876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MAXUS </a:t>
            </a:r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大字标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826279" y="2465921"/>
            <a:ext cx="801791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LIGHT GRAY</a:t>
            </a:r>
            <a:endParaRPr lang="en-US" sz="630" dirty="0"/>
          </a:p>
        </p:txBody>
      </p:sp>
      <p:sp>
        <p:nvSpPr>
          <p:cNvPr id="8" name="Text 5"/>
          <p:cNvSpPr txBox="1"/>
          <p:nvPr/>
        </p:nvSpPr>
        <p:spPr>
          <a:xfrm>
            <a:off x="8826279" y="2618317"/>
            <a:ext cx="2758371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浅灰色做背景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八个车系都在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MAXUS 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这个名字下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又不抢车的画面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826279" y="2959026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8826279" y="3124122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选中状态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26279" y="3329500"/>
            <a:ext cx="734324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INK + 2PX</a:t>
            </a:r>
            <a:endParaRPr lang="en-US" sz="630" dirty="0"/>
          </a:p>
        </p:txBody>
      </p:sp>
      <p:sp>
        <p:nvSpPr>
          <p:cNvPr id="12" name="Text 9"/>
          <p:cNvSpPr txBox="1"/>
          <p:nvPr/>
        </p:nvSpPr>
        <p:spPr>
          <a:xfrm>
            <a:off x="8826279" y="3481896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选中的车系用黑字加下划线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悬停时变蓝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8826279" y="3822604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600" dirty="0"/>
          </a:p>
        </p:txBody>
      </p:sp>
      <p:sp>
        <p:nvSpPr>
          <p:cNvPr id="14" name="Text 11"/>
          <p:cNvSpPr txBox="1"/>
          <p:nvPr/>
        </p:nvSpPr>
        <p:spPr>
          <a:xfrm>
            <a:off x="8826279" y="3987700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八个车系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826279" y="4193078"/>
            <a:ext cx="666857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NAV · 18</a:t>
            </a:r>
            <a:endParaRPr lang="en-US" sz="630" dirty="0"/>
          </a:p>
        </p:txBody>
      </p:sp>
      <p:sp>
        <p:nvSpPr>
          <p:cNvPr id="16" name="Text 13"/>
          <p:cNvSpPr txBox="1"/>
          <p:nvPr/>
        </p:nvSpPr>
        <p:spPr>
          <a:xfrm>
            <a:off x="8826279" y="4345474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品牌方案的七大车系加改装车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重卡单独列出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8826279" y="4686183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600" dirty="0"/>
          </a:p>
        </p:txBody>
      </p:sp>
      <p:sp>
        <p:nvSpPr>
          <p:cNvPr id="18" name="Text 15"/>
          <p:cNvSpPr txBox="1"/>
          <p:nvPr/>
        </p:nvSpPr>
        <p:spPr>
          <a:xfrm>
            <a:off x="8826279" y="4851279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车型小图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826279" y="5056656"/>
            <a:ext cx="734324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THUMBNAIL</a:t>
            </a:r>
            <a:endParaRPr lang="en-US" sz="630" dirty="0"/>
          </a:p>
        </p:txBody>
      </p:sp>
      <p:sp>
        <p:nvSpPr>
          <p:cNvPr id="20" name="Text 17"/>
          <p:cNvSpPr txBox="1"/>
          <p:nvPr/>
        </p:nvSpPr>
        <p:spPr>
          <a:xfrm>
            <a:off x="8826279" y="5209053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切换车系时同步切换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方便识别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8826279" y="5549761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</a:t>
            </a:r>
            <a:endParaRPr lang="en-US" sz="600" dirty="0"/>
          </a:p>
        </p:txBody>
      </p:sp>
      <p:sp>
        <p:nvSpPr>
          <p:cNvPr id="22" name="Text 19"/>
          <p:cNvSpPr txBox="1"/>
          <p:nvPr/>
        </p:nvSpPr>
        <p:spPr>
          <a:xfrm>
            <a:off x="8826279" y="5714857"/>
            <a:ext cx="1127097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车系名与用途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26279" y="5920235"/>
            <a:ext cx="1274061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H2 44 · BODY M 20</a:t>
            </a:r>
            <a:endParaRPr lang="en-US" sz="630" dirty="0"/>
          </a:p>
        </p:txBody>
      </p:sp>
      <p:sp>
        <p:nvSpPr>
          <p:cNvPr id="24" name="Text 21"/>
          <p:cNvSpPr txBox="1"/>
          <p:nvPr/>
        </p:nvSpPr>
        <p:spPr>
          <a:xfrm>
            <a:off x="8826279" y="6072631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只写一句用途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不放参数和配置表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（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9/29 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会议结论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）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6" name="Text 23"/>
          <p:cNvSpPr txBox="1"/>
          <p:nvPr/>
        </p:nvSpPr>
        <p:spPr>
          <a:xfrm>
            <a:off x="10699979" y="355591"/>
            <a:ext cx="1039166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VEHICLES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22 / 30</a:t>
            </a:r>
            <a:endParaRPr lang="en-US" sz="6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487128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04 TECHNOLOGY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科技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沿用第一版的三张视频卡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8826279" y="2095448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600" dirty="0"/>
          </a:p>
        </p:txBody>
      </p:sp>
      <p:sp>
        <p:nvSpPr>
          <p:cNvPr id="6" name="Text 3"/>
          <p:cNvSpPr txBox="1"/>
          <p:nvPr/>
        </p:nvSpPr>
        <p:spPr>
          <a:xfrm>
            <a:off x="8826279" y="2260543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板块标题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826279" y="2465921"/>
            <a:ext cx="599390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H1 · 56</a:t>
            </a:r>
            <a:endParaRPr lang="en-US" sz="630" dirty="0"/>
          </a:p>
        </p:txBody>
      </p:sp>
      <p:sp>
        <p:nvSpPr>
          <p:cNvPr id="8" name="Text 5"/>
          <p:cNvSpPr txBox="1"/>
          <p:nvPr/>
        </p:nvSpPr>
        <p:spPr>
          <a:xfrm>
            <a:off x="8826279" y="2618317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讲技术对用户的用处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不讲参数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826279" y="3174921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8826279" y="3340016"/>
            <a:ext cx="960413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三张视频卡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26279" y="3545394"/>
            <a:ext cx="396989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CARD</a:t>
            </a:r>
            <a:endParaRPr lang="en-US" sz="630" dirty="0"/>
          </a:p>
        </p:txBody>
      </p:sp>
      <p:sp>
        <p:nvSpPr>
          <p:cNvPr id="12" name="Text 9"/>
          <p:cNvSpPr txBox="1"/>
          <p:nvPr/>
        </p:nvSpPr>
        <p:spPr>
          <a:xfrm>
            <a:off x="8826279" y="3697790"/>
            <a:ext cx="2758371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智能驾驶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动力方案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安全各一张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用视频展示场景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会议要求技术内容少用术语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8826279" y="4254394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600" dirty="0"/>
          </a:p>
        </p:txBody>
      </p:sp>
      <p:sp>
        <p:nvSpPr>
          <p:cNvPr id="14" name="Text 11"/>
          <p:cNvSpPr txBox="1"/>
          <p:nvPr/>
        </p:nvSpPr>
        <p:spPr>
          <a:xfrm>
            <a:off x="8826279" y="4419490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播放按钮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826279" y="4624867"/>
            <a:ext cx="1071660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72PX · FROSTED</a:t>
            </a:r>
            <a:endParaRPr lang="en-US" sz="630" dirty="0"/>
          </a:p>
        </p:txBody>
      </p:sp>
      <p:sp>
        <p:nvSpPr>
          <p:cNvPr id="16" name="Text 13"/>
          <p:cNvSpPr txBox="1"/>
          <p:nvPr/>
        </p:nvSpPr>
        <p:spPr>
          <a:xfrm>
            <a:off x="8826279" y="4777263"/>
            <a:ext cx="2758371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半透明磨砂底加白色细描边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质感好但不过分科技风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悬停描边变蓝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8826279" y="5333867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600" dirty="0"/>
          </a:p>
        </p:txBody>
      </p:sp>
      <p:sp>
        <p:nvSpPr>
          <p:cNvPr id="18" name="Text 15"/>
          <p:cNvSpPr txBox="1"/>
          <p:nvPr/>
        </p:nvSpPr>
        <p:spPr>
          <a:xfrm>
            <a:off x="8826279" y="5498963"/>
            <a:ext cx="627047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卡片名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826279" y="5704340"/>
            <a:ext cx="599390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H4 · 24</a:t>
            </a:r>
            <a:endParaRPr lang="en-US" sz="630" dirty="0"/>
          </a:p>
        </p:txBody>
      </p:sp>
      <p:sp>
        <p:nvSpPr>
          <p:cNvPr id="20" name="Text 17"/>
          <p:cNvSpPr txBox="1"/>
          <p:nvPr/>
        </p:nvSpPr>
        <p:spPr>
          <a:xfrm>
            <a:off x="8826279" y="5856736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放在卡片左下角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和标题左对齐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2" name="Text 19"/>
          <p:cNvSpPr txBox="1"/>
          <p:nvPr/>
        </p:nvSpPr>
        <p:spPr>
          <a:xfrm>
            <a:off x="10587666" y="355591"/>
            <a:ext cx="1179557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TECHNOLOGY</a:t>
            </a:r>
            <a:endParaRPr lang="en-US" sz="650" dirty="0"/>
          </a:p>
        </p:txBody>
      </p:sp>
      <p:sp>
        <p:nvSpPr>
          <p:cNvPr id="23" name="Text 20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4" name="Text 21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23 / 30</a:t>
            </a:r>
            <a:endParaRPr lang="en-US" sz="6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940546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05 / 06 ENGINEERING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电驱与越野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整屏大图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，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文字放左下角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5410065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600" dirty="0"/>
          </a:p>
        </p:txBody>
      </p:sp>
      <p:sp>
        <p:nvSpPr>
          <p:cNvPr id="6" name="Text 3"/>
          <p:cNvSpPr txBox="1"/>
          <p:nvPr/>
        </p:nvSpPr>
        <p:spPr>
          <a:xfrm>
            <a:off x="761981" y="5575161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板块标题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761981" y="5780538"/>
            <a:ext cx="599390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H1 · 56</a:t>
            </a:r>
            <a:endParaRPr lang="en-US" sz="630" dirty="0"/>
          </a:p>
        </p:txBody>
      </p:sp>
      <p:sp>
        <p:nvSpPr>
          <p:cNvPr id="8" name="Text 5"/>
          <p:cNvSpPr txBox="1"/>
          <p:nvPr/>
        </p:nvSpPr>
        <p:spPr>
          <a:xfrm>
            <a:off x="761981" y="5932934"/>
            <a:ext cx="2547048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和其他板块标题同一字号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3517812" y="5410065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3517812" y="5575161"/>
            <a:ext cx="460363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正文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517812" y="5780538"/>
            <a:ext cx="1408995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BODY M · 20 · 620PX</a:t>
            </a:r>
            <a:endParaRPr lang="en-US" sz="630" dirty="0"/>
          </a:p>
        </p:txBody>
      </p:sp>
      <p:sp>
        <p:nvSpPr>
          <p:cNvPr id="12" name="Text 9"/>
          <p:cNvSpPr txBox="1"/>
          <p:nvPr/>
        </p:nvSpPr>
        <p:spPr>
          <a:xfrm>
            <a:off x="3517812" y="5932934"/>
            <a:ext cx="2547048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三行以内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说清这项技术解决什么问题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6273643" y="5410065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600" dirty="0"/>
          </a:p>
        </p:txBody>
      </p:sp>
      <p:sp>
        <p:nvSpPr>
          <p:cNvPr id="14" name="Text 11"/>
          <p:cNvSpPr txBox="1"/>
          <p:nvPr/>
        </p:nvSpPr>
        <p:spPr>
          <a:xfrm>
            <a:off x="6273643" y="5575161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文字链接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273643" y="5780538"/>
            <a:ext cx="869259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BUTTON · 16</a:t>
            </a:r>
            <a:endParaRPr lang="en-US" sz="630" dirty="0"/>
          </a:p>
        </p:txBody>
      </p:sp>
      <p:sp>
        <p:nvSpPr>
          <p:cNvPr id="16" name="Text 13"/>
          <p:cNvSpPr txBox="1"/>
          <p:nvPr/>
        </p:nvSpPr>
        <p:spPr>
          <a:xfrm>
            <a:off x="6273643" y="5932934"/>
            <a:ext cx="2547048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按客户要求减少首页按钮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改为文字链接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9029474" y="5410065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600" dirty="0"/>
          </a:p>
        </p:txBody>
      </p:sp>
      <p:sp>
        <p:nvSpPr>
          <p:cNvPr id="18" name="Text 15"/>
          <p:cNvSpPr txBox="1"/>
          <p:nvPr/>
        </p:nvSpPr>
        <p:spPr>
          <a:xfrm>
            <a:off x="9029474" y="5575161"/>
            <a:ext cx="1127097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只压暗左下角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9029474" y="5780538"/>
            <a:ext cx="666857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GRADIENT</a:t>
            </a:r>
            <a:endParaRPr lang="en-US" sz="630" dirty="0"/>
          </a:p>
        </p:txBody>
      </p:sp>
      <p:sp>
        <p:nvSpPr>
          <p:cNvPr id="20" name="Text 17"/>
          <p:cNvSpPr txBox="1"/>
          <p:nvPr/>
        </p:nvSpPr>
        <p:spPr>
          <a:xfrm>
            <a:off x="9029474" y="5932934"/>
            <a:ext cx="2547048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保证文字看得清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画面其他部分保持原样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文字距左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120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距底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140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2" name="Text 19"/>
          <p:cNvSpPr txBox="1"/>
          <p:nvPr/>
        </p:nvSpPr>
        <p:spPr>
          <a:xfrm>
            <a:off x="10531509" y="355591"/>
            <a:ext cx="124975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ENGINEERING</a:t>
            </a:r>
            <a:endParaRPr lang="en-US" sz="650" dirty="0"/>
          </a:p>
        </p:txBody>
      </p:sp>
      <p:sp>
        <p:nvSpPr>
          <p:cNvPr id="23" name="Text 20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4" name="Text 21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24 / 30</a:t>
            </a:r>
            <a:endParaRPr lang="en-US" sz="6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865018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07 NEWS &amp; INSIGHTS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News &amp; Insights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沿用第一版结构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，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统一细节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8826279" y="2095448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600" dirty="0"/>
          </a:p>
        </p:txBody>
      </p:sp>
      <p:sp>
        <p:nvSpPr>
          <p:cNvPr id="6" name="Text 3"/>
          <p:cNvSpPr txBox="1"/>
          <p:nvPr/>
        </p:nvSpPr>
        <p:spPr>
          <a:xfrm>
            <a:off x="8826279" y="2260543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板块标题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826279" y="2465921"/>
            <a:ext cx="1139127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H1 · 56 · 400PX</a:t>
            </a:r>
            <a:endParaRPr lang="en-US" sz="630" dirty="0"/>
          </a:p>
        </p:txBody>
      </p:sp>
      <p:sp>
        <p:nvSpPr>
          <p:cNvPr id="8" name="Text 5"/>
          <p:cNvSpPr txBox="1"/>
          <p:nvPr/>
        </p:nvSpPr>
        <p:spPr>
          <a:xfrm>
            <a:off x="8826279" y="2618317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左边标题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右边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2×2 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四篇文章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结构和第一版一致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826279" y="2959026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8826279" y="3124122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查看全部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26279" y="3329500"/>
            <a:ext cx="869259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BUTTON · 16</a:t>
            </a:r>
            <a:endParaRPr lang="en-US" sz="630" dirty="0"/>
          </a:p>
        </p:txBody>
      </p:sp>
      <p:sp>
        <p:nvSpPr>
          <p:cNvPr id="12" name="Text 9"/>
          <p:cNvSpPr txBox="1"/>
          <p:nvPr/>
        </p:nvSpPr>
        <p:spPr>
          <a:xfrm>
            <a:off x="8826279" y="3481896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原来是蓝色粗体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改成和全站一致的黑色文字链接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8826279" y="3822604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600" dirty="0"/>
          </a:p>
        </p:txBody>
      </p:sp>
      <p:sp>
        <p:nvSpPr>
          <p:cNvPr id="14" name="Text 11"/>
          <p:cNvSpPr txBox="1"/>
          <p:nvPr/>
        </p:nvSpPr>
        <p:spPr>
          <a:xfrm>
            <a:off x="8826279" y="3987700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分类标签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826279" y="4193078"/>
            <a:ext cx="1071660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MONO · FROSTED</a:t>
            </a:r>
            <a:endParaRPr lang="en-US" sz="630" dirty="0"/>
          </a:p>
        </p:txBody>
      </p:sp>
      <p:sp>
        <p:nvSpPr>
          <p:cNvPr id="16" name="Text 13"/>
          <p:cNvSpPr txBox="1"/>
          <p:nvPr/>
        </p:nvSpPr>
        <p:spPr>
          <a:xfrm>
            <a:off x="8826279" y="4345474"/>
            <a:ext cx="2758371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Brand News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Country News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Brand Information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对应会议确定的三类内容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8826279" y="4686183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600" dirty="0"/>
          </a:p>
        </p:txBody>
      </p:sp>
      <p:sp>
        <p:nvSpPr>
          <p:cNvPr id="18" name="Text 15"/>
          <p:cNvSpPr txBox="1"/>
          <p:nvPr/>
        </p:nvSpPr>
        <p:spPr>
          <a:xfrm>
            <a:off x="8826279" y="4851279"/>
            <a:ext cx="460363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日期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826279" y="5056656"/>
            <a:ext cx="1071660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DATA MONO · 14</a:t>
            </a:r>
            <a:endParaRPr lang="en-US" sz="630" dirty="0"/>
          </a:p>
        </p:txBody>
      </p:sp>
      <p:sp>
        <p:nvSpPr>
          <p:cNvPr id="20" name="Text 17"/>
          <p:cNvSpPr txBox="1"/>
          <p:nvPr/>
        </p:nvSpPr>
        <p:spPr>
          <a:xfrm>
            <a:off x="8826279" y="5209053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灰色小字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不抢标题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8826279" y="5549761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</a:t>
            </a:r>
            <a:endParaRPr lang="en-US" sz="600" dirty="0"/>
          </a:p>
        </p:txBody>
      </p:sp>
      <p:sp>
        <p:nvSpPr>
          <p:cNvPr id="22" name="Text 19"/>
          <p:cNvSpPr txBox="1"/>
          <p:nvPr/>
        </p:nvSpPr>
        <p:spPr>
          <a:xfrm>
            <a:off x="8826279" y="5714857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文章标题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26279" y="5920235"/>
            <a:ext cx="599390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H4 · 24</a:t>
            </a:r>
            <a:endParaRPr lang="en-US" sz="630" dirty="0"/>
          </a:p>
        </p:txBody>
      </p:sp>
      <p:sp>
        <p:nvSpPr>
          <p:cNvPr id="24" name="Text 21"/>
          <p:cNvSpPr txBox="1"/>
          <p:nvPr/>
        </p:nvSpPr>
        <p:spPr>
          <a:xfrm>
            <a:off x="8826279" y="6072631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悬停时标题变蓝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图片轻微放大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6" name="Text 23"/>
          <p:cNvSpPr txBox="1"/>
          <p:nvPr/>
        </p:nvSpPr>
        <p:spPr>
          <a:xfrm>
            <a:off x="10924505" y="355591"/>
            <a:ext cx="758508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NEWS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25 / 30</a:t>
            </a:r>
            <a:endParaRPr lang="en-US" sz="6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411599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08 SUBSCRIBE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订阅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首页唯一保留的实心按钮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8826279" y="2095448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600" dirty="0"/>
          </a:p>
        </p:txBody>
      </p:sp>
      <p:sp>
        <p:nvSpPr>
          <p:cNvPr id="6" name="Text 3"/>
          <p:cNvSpPr txBox="1"/>
          <p:nvPr/>
        </p:nvSpPr>
        <p:spPr>
          <a:xfrm>
            <a:off x="8826279" y="2260543"/>
            <a:ext cx="627047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引导语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826279" y="2465921"/>
            <a:ext cx="599390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H2 · 44</a:t>
            </a:r>
            <a:endParaRPr lang="en-US" sz="630" dirty="0"/>
          </a:p>
        </p:txBody>
      </p:sp>
      <p:sp>
        <p:nvSpPr>
          <p:cNvPr id="8" name="Text 5"/>
          <p:cNvSpPr txBox="1"/>
          <p:nvPr/>
        </p:nvSpPr>
        <p:spPr>
          <a:xfrm>
            <a:off x="8826279" y="2618317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Keep up with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826279" y="2959026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8826279" y="3124122"/>
            <a:ext cx="1099192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MAXUS </a:t>
            </a:r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字标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26279" y="3329500"/>
            <a:ext cx="666857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WORDMARK</a:t>
            </a:r>
            <a:endParaRPr lang="en-US" sz="630" dirty="0"/>
          </a:p>
        </p:txBody>
      </p:sp>
      <p:sp>
        <p:nvSpPr>
          <p:cNvPr id="12" name="Text 9"/>
          <p:cNvSpPr txBox="1"/>
          <p:nvPr/>
        </p:nvSpPr>
        <p:spPr>
          <a:xfrm>
            <a:off x="8826279" y="3481896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页面结尾放大号字标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加深品牌印象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8826279" y="3822604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600" dirty="0"/>
          </a:p>
        </p:txBody>
      </p:sp>
      <p:sp>
        <p:nvSpPr>
          <p:cNvPr id="14" name="Text 11"/>
          <p:cNvSpPr txBox="1"/>
          <p:nvPr/>
        </p:nvSpPr>
        <p:spPr>
          <a:xfrm>
            <a:off x="8826279" y="3987700"/>
            <a:ext cx="627047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输入框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826279" y="4193078"/>
            <a:ext cx="936726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WHITE · 64PX</a:t>
            </a:r>
            <a:endParaRPr lang="en-US" sz="630" dirty="0"/>
          </a:p>
        </p:txBody>
      </p:sp>
      <p:sp>
        <p:nvSpPr>
          <p:cNvPr id="16" name="Text 13"/>
          <p:cNvSpPr txBox="1"/>
          <p:nvPr/>
        </p:nvSpPr>
        <p:spPr>
          <a:xfrm>
            <a:off x="8826279" y="4345474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白色输入框在任何背景图上都清楚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8826279" y="4686183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600" dirty="0"/>
          </a:p>
        </p:txBody>
      </p:sp>
      <p:sp>
        <p:nvSpPr>
          <p:cNvPr id="18" name="Text 15"/>
          <p:cNvSpPr txBox="1"/>
          <p:nvPr/>
        </p:nvSpPr>
        <p:spPr>
          <a:xfrm>
            <a:off x="8826279" y="4851279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订阅按钮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826279" y="5056656"/>
            <a:ext cx="1004193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BLACK · SOLID</a:t>
            </a:r>
            <a:endParaRPr lang="en-US" sz="630" dirty="0"/>
          </a:p>
        </p:txBody>
      </p:sp>
      <p:sp>
        <p:nvSpPr>
          <p:cNvPr id="20" name="Text 17"/>
          <p:cNvSpPr txBox="1"/>
          <p:nvPr/>
        </p:nvSpPr>
        <p:spPr>
          <a:xfrm>
            <a:off x="8826279" y="5209053"/>
            <a:ext cx="2758371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首页其他按钮都改成了文字链接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订阅是唯一需要用户留信息的地方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所以保留实心按钮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8826279" y="5549761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</a:t>
            </a:r>
            <a:endParaRPr lang="en-US" sz="600" dirty="0"/>
          </a:p>
        </p:txBody>
      </p:sp>
      <p:sp>
        <p:nvSpPr>
          <p:cNvPr id="22" name="Text 19"/>
          <p:cNvSpPr txBox="1"/>
          <p:nvPr/>
        </p:nvSpPr>
        <p:spPr>
          <a:xfrm>
            <a:off x="8826279" y="5714857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同意条款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26279" y="5920235"/>
            <a:ext cx="396989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14PX</a:t>
            </a:r>
            <a:endParaRPr lang="en-US" sz="630" dirty="0"/>
          </a:p>
        </p:txBody>
      </p:sp>
      <p:sp>
        <p:nvSpPr>
          <p:cNvPr id="24" name="Text 21"/>
          <p:cNvSpPr txBox="1"/>
          <p:nvPr/>
        </p:nvSpPr>
        <p:spPr>
          <a:xfrm>
            <a:off x="8826279" y="6072631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合规需要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6" name="Text 23"/>
          <p:cNvSpPr txBox="1"/>
          <p:nvPr/>
        </p:nvSpPr>
        <p:spPr>
          <a:xfrm>
            <a:off x="10643822" y="355591"/>
            <a:ext cx="1109362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SUBSCRIBE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26 / 30</a:t>
            </a:r>
            <a:endParaRPr lang="en-US" sz="6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184890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09 FOOTER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页脚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只放直达链接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8826279" y="2095448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600" dirty="0"/>
          </a:p>
        </p:txBody>
      </p:sp>
      <p:sp>
        <p:nvSpPr>
          <p:cNvPr id="6" name="Text 3"/>
          <p:cNvSpPr txBox="1"/>
          <p:nvPr/>
        </p:nvSpPr>
        <p:spPr>
          <a:xfrm>
            <a:off x="8826279" y="2260543"/>
            <a:ext cx="518281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Geist Medium" pitchFamily="34" charset="0"/>
                <a:ea typeface="Geist Medium" pitchFamily="34" charset="-122"/>
                <a:cs typeface="Geist Medium" pitchFamily="34" charset="-120"/>
              </a:rPr>
              <a:t>Logo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8826279" y="2465921"/>
            <a:ext cx="1341528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WHITE · HORIZONTAL</a:t>
            </a:r>
            <a:endParaRPr lang="en-US" sz="630" dirty="0"/>
          </a:p>
        </p:txBody>
      </p:sp>
      <p:sp>
        <p:nvSpPr>
          <p:cNvPr id="8" name="Text 5"/>
          <p:cNvSpPr txBox="1"/>
          <p:nvPr/>
        </p:nvSpPr>
        <p:spPr>
          <a:xfrm>
            <a:off x="8826279" y="2618317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深色背景用白色横版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Logo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826279" y="2959026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8826279" y="3124122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页脚订阅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26279" y="3329500"/>
            <a:ext cx="1139127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UNDERLINE INPUT</a:t>
            </a:r>
            <a:endParaRPr lang="en-US" sz="630" dirty="0"/>
          </a:p>
        </p:txBody>
      </p:sp>
      <p:sp>
        <p:nvSpPr>
          <p:cNvPr id="12" name="Text 9"/>
          <p:cNvSpPr txBox="1"/>
          <p:nvPr/>
        </p:nvSpPr>
        <p:spPr>
          <a:xfrm>
            <a:off x="8826279" y="3481896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用简单的下划线输入框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不和上面的订阅区重复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8826279" y="3822604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600" dirty="0"/>
          </a:p>
        </p:txBody>
      </p:sp>
      <p:sp>
        <p:nvSpPr>
          <p:cNvPr id="14" name="Text 11"/>
          <p:cNvSpPr txBox="1"/>
          <p:nvPr/>
        </p:nvSpPr>
        <p:spPr>
          <a:xfrm>
            <a:off x="8826279" y="3987700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四组链接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826279" y="4193078"/>
            <a:ext cx="1139127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MONO LABEL · 18</a:t>
            </a:r>
            <a:endParaRPr lang="en-US" sz="630" dirty="0"/>
          </a:p>
        </p:txBody>
      </p:sp>
      <p:sp>
        <p:nvSpPr>
          <p:cNvPr id="16" name="Text 13"/>
          <p:cNvSpPr txBox="1"/>
          <p:nvPr/>
        </p:nvSpPr>
        <p:spPr>
          <a:xfrm>
            <a:off x="8826279" y="4345474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按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9/29 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会议结论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页脚只放直达链接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8826279" y="4686183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600" dirty="0"/>
          </a:p>
        </p:txBody>
      </p:sp>
      <p:sp>
        <p:nvSpPr>
          <p:cNvPr id="18" name="Text 15"/>
          <p:cNvSpPr txBox="1"/>
          <p:nvPr/>
        </p:nvSpPr>
        <p:spPr>
          <a:xfrm>
            <a:off x="8826279" y="4851279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社交媒体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826279" y="5056656"/>
            <a:ext cx="396989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44PX</a:t>
            </a:r>
            <a:endParaRPr lang="en-US" sz="630" dirty="0"/>
          </a:p>
        </p:txBody>
      </p:sp>
      <p:sp>
        <p:nvSpPr>
          <p:cNvPr id="20" name="Text 17"/>
          <p:cNvSpPr txBox="1"/>
          <p:nvPr/>
        </p:nvSpPr>
        <p:spPr>
          <a:xfrm>
            <a:off x="8826279" y="5209053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统一线性图标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悬停描边变蓝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8826279" y="5549761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</a:t>
            </a:r>
            <a:endParaRPr lang="en-US" sz="600" dirty="0"/>
          </a:p>
        </p:txBody>
      </p:sp>
      <p:sp>
        <p:nvSpPr>
          <p:cNvPr id="22" name="Text 19"/>
          <p:cNvSpPr txBox="1"/>
          <p:nvPr/>
        </p:nvSpPr>
        <p:spPr>
          <a:xfrm>
            <a:off x="8826279" y="5714857"/>
            <a:ext cx="793730" cy="180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105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选择市场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26279" y="5920235"/>
            <a:ext cx="1341528" cy="992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30" spc="50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CHOOSE YOUR MARKET</a:t>
            </a:r>
            <a:endParaRPr lang="en-US" sz="630" dirty="0"/>
          </a:p>
        </p:txBody>
      </p:sp>
      <p:sp>
        <p:nvSpPr>
          <p:cNvPr id="24" name="Text 21"/>
          <p:cNvSpPr txBox="1"/>
          <p:nvPr/>
        </p:nvSpPr>
        <p:spPr>
          <a:xfrm>
            <a:off x="8826279" y="6072631"/>
            <a:ext cx="2758371" cy="295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跳转各国站点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价格和配置在国家站</a:t>
            </a:r>
            <a:pPr algn="l" indent="0" marL="0">
              <a:lnSpc>
                <a:spcPts val="1160"/>
              </a:lnSpc>
              <a:buNone/>
            </a:pPr>
            <a:r>
              <a:rPr lang="en-US" sz="75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6" name="Text 23"/>
          <p:cNvSpPr txBox="1"/>
          <p:nvPr/>
        </p:nvSpPr>
        <p:spPr>
          <a:xfrm>
            <a:off x="10812192" y="355591"/>
            <a:ext cx="898899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— FOOTER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27 / 30</a:t>
            </a:r>
            <a:endParaRPr lang="en-US" sz="6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958305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 — MOTION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全球板块动效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分三段随滚动播放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4178196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600" dirty="0"/>
          </a:p>
        </p:txBody>
      </p:sp>
      <p:sp>
        <p:nvSpPr>
          <p:cNvPr id="6" name="Text 3"/>
          <p:cNvSpPr txBox="1"/>
          <p:nvPr/>
        </p:nvSpPr>
        <p:spPr>
          <a:xfrm>
            <a:off x="761981" y="4381390"/>
            <a:ext cx="88897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地球自转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61981" y="4648084"/>
            <a:ext cx="3590454" cy="335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进入板块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地球约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20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秒转一圈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；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后台按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IP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识别国家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394090" y="4178196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600" dirty="0"/>
          </a:p>
        </p:txBody>
      </p:sp>
      <p:sp>
        <p:nvSpPr>
          <p:cNvPr id="9" name="Text 6"/>
          <p:cNvSpPr txBox="1"/>
          <p:nvPr/>
        </p:nvSpPr>
        <p:spPr>
          <a:xfrm>
            <a:off x="4394090" y="4381390"/>
            <a:ext cx="184145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定位到用户所在国家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394090" y="4648084"/>
            <a:ext cx="3590454" cy="67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滚动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0–40%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地球转到用户所在国家停住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出现光环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；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4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张本地照片依次出现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连接线画出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8026199" y="4178196"/>
            <a:ext cx="256598" cy="9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48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600" dirty="0"/>
          </a:p>
        </p:txBody>
      </p:sp>
      <p:sp>
        <p:nvSpPr>
          <p:cNvPr id="12" name="Text 9"/>
          <p:cNvSpPr txBox="1"/>
          <p:nvPr/>
        </p:nvSpPr>
        <p:spPr>
          <a:xfrm>
            <a:off x="8026199" y="4381390"/>
            <a:ext cx="88897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出现数据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026199" y="4648084"/>
            <a:ext cx="3590454" cy="335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滚动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60–80%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照片淡出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地球上移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；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数字计数一次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随后进入车型屏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761981" y="5740256"/>
            <a:ext cx="6417205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已有可在浏览器运行的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46465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HTML 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原型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（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46465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maxus-global-local.html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）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开发可直接参考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46465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IP 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识别失败时默认显示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46465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Europe / United Kingdom</a:t>
            </a:r>
            <a:pPr algn="l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646465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16" name="Text 13"/>
          <p:cNvSpPr txBox="1"/>
          <p:nvPr/>
        </p:nvSpPr>
        <p:spPr>
          <a:xfrm>
            <a:off x="10812192" y="355591"/>
            <a:ext cx="898899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 — MOTION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18" name="Text 15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28 / 30</a:t>
            </a:r>
            <a:endParaRPr lang="en-US" sz="6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81" y="774681"/>
            <a:ext cx="1260543" cy="11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0"/>
              </a:lnSpc>
              <a:buNone/>
            </a:pPr>
            <a:r>
              <a:rPr lang="en-US" sz="700" spc="56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 — NEXT STEPS</a:t>
            </a:r>
            <a:endParaRPr lang="en-US" sz="700" dirty="0"/>
          </a:p>
        </p:txBody>
      </p:sp>
      <p:sp>
        <p:nvSpPr>
          <p:cNvPr id="4" name="Text 1"/>
          <p:cNvSpPr txBox="1"/>
          <p:nvPr/>
        </p:nvSpPr>
        <p:spPr>
          <a:xfrm>
            <a:off x="761981" y="990575"/>
            <a:ext cx="1114524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待确认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：</a:t>
            </a:r>
            <a:pPr algn="l" indent="0" marL="0">
              <a:lnSpc>
                <a:spcPts val="3000"/>
              </a:lnSpc>
              <a:buNone/>
            </a:pPr>
            <a:r>
              <a:rPr lang="en-US" sz="2500" spc="-25" kern="0" dirty="0">
                <a:solidFill>
                  <a:srgbClr val="F3F3F1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上线前需要贵司提供的内容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761981" y="2206570"/>
            <a:ext cx="480083" cy="34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616263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650959" y="2292293"/>
            <a:ext cx="88897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首屏视频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063898" y="2282768"/>
            <a:ext cx="771124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当前车型为参考素材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需要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MAXUS 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实拍视频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761981" y="2866953"/>
            <a:ext cx="569501" cy="34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616263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650959" y="2952676"/>
            <a:ext cx="126996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本地用车照片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063898" y="2943151"/>
            <a:ext cx="771124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按国家提供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3–4 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张真实用车场景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在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CMS 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按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IP 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配置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61981" y="3527337"/>
            <a:ext cx="566773" cy="34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616263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650959" y="3613060"/>
            <a:ext cx="107947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国家站名单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063898" y="3603535"/>
            <a:ext cx="771124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地球定位和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Choose Your Market 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需要实际国家站列表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981" y="4187720"/>
            <a:ext cx="571982" cy="34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616263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50959" y="4273443"/>
            <a:ext cx="88897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数据口径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063898" y="4263918"/>
            <a:ext cx="771124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请确认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 1.2M+ 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客户数的出处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；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1896 / 100+ 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来自品牌方案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761981" y="4848104"/>
            <a:ext cx="569253" cy="34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616263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650959" y="4933827"/>
            <a:ext cx="126996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动力形式图标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063898" y="4924302"/>
            <a:ext cx="771124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按会议纪要补充纯电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混动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、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柴油图标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（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参考丰田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）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761981" y="5508487"/>
            <a:ext cx="570246" cy="34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616263"/>
                </a:solidFill>
                <a:latin typeface="Geist ExtraLight" pitchFamily="34" charset="0"/>
                <a:ea typeface="Geist ExtraLight" pitchFamily="34" charset="-122"/>
                <a:cs typeface="Geist ExtraLight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1650959" y="5594210"/>
            <a:ext cx="69848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3F3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移动端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063898" y="5584685"/>
            <a:ext cx="771124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桌面版确认后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，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按同一套规范出移动端</a:t>
            </a:r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。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761981" y="355591"/>
            <a:ext cx="1740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MAXUS · HOMEPAGE WEB UI</a:t>
            </a:r>
            <a:endParaRPr lang="en-US" sz="650" dirty="0"/>
          </a:p>
        </p:txBody>
      </p:sp>
      <p:sp>
        <p:nvSpPr>
          <p:cNvPr id="24" name="Text 21"/>
          <p:cNvSpPr txBox="1"/>
          <p:nvPr/>
        </p:nvSpPr>
        <p:spPr>
          <a:xfrm>
            <a:off x="10587666" y="355591"/>
            <a:ext cx="1179557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 — NEXT STEPS</a:t>
            </a:r>
            <a:endParaRPr lang="en-US" sz="650" dirty="0"/>
          </a:p>
        </p:txBody>
      </p:sp>
      <p:sp>
        <p:nvSpPr>
          <p:cNvPr id="25" name="Text 22"/>
          <p:cNvSpPr txBox="1"/>
          <p:nvPr/>
        </p:nvSpPr>
        <p:spPr>
          <a:xfrm>
            <a:off x="761981" y="6419690"/>
            <a:ext cx="1835873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1E5FC8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DRIVE THE CHARGE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  </a:t>
            </a:r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驭电先行</a:t>
            </a:r>
            <a:endParaRPr lang="en-US" sz="650" dirty="0"/>
          </a:p>
        </p:txBody>
      </p:sp>
      <p:sp>
        <p:nvSpPr>
          <p:cNvPr id="26" name="Text 23"/>
          <p:cNvSpPr txBox="1"/>
          <p:nvPr/>
        </p:nvSpPr>
        <p:spPr>
          <a:xfrm>
            <a:off x="11036719" y="6419690"/>
            <a:ext cx="618241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29 / 30</a:t>
            </a:r>
            <a:endParaRPr lang="en-US" sz="6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deck/v2/bg/b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6582" y="4590935"/>
            <a:ext cx="8129409" cy="7619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spc="-48" kern="0" dirty="0">
                <a:solidFill>
                  <a:srgbClr val="F3F3F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Drive the Charge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774681" y="5638659"/>
            <a:ext cx="1200145" cy="206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spc="390" kern="0" dirty="0">
                <a:solidFill>
                  <a:srgbClr val="A0A0A0"/>
                </a:solidFill>
                <a:latin typeface="Noto Sans SC Light" pitchFamily="34" charset="0"/>
                <a:ea typeface="Noto Sans SC Light" pitchFamily="34" charset="-122"/>
                <a:cs typeface="Noto Sans SC Light" pitchFamily="34" charset="-120"/>
              </a:rPr>
              <a:t>驭电先行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0924505" y="5733907"/>
            <a:ext cx="758508" cy="103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50" spc="52" kern="0" dirty="0">
                <a:solidFill>
                  <a:srgbClr val="64646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THANK YOU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MAXUS 官网首页设计说明</dc:title>
  <dc:subject>PptxGenJS Presentation</dc:subject>
  <dc:creator>PptxGenJS</dc:creator>
  <cp:lastModifiedBy>PptxGenJS</cp:lastModifiedBy>
  <cp:revision>1</cp:revision>
  <dcterms:created xsi:type="dcterms:W3CDTF">2026-10-09T12:38:17Z</dcterms:created>
  <dcterms:modified xsi:type="dcterms:W3CDTF">2026-10-09T12:38:17Z</dcterms:modified>
</cp:coreProperties>
</file>