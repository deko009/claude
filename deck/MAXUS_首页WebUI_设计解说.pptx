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229f50e9-710b-61bd-4c53-e471efadfc41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设计系统" id="{e22b5eef-9bfd-a62e-49b8-7969465afd32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逐屏解说" id="{f60ce758-6be2-076b-0af2-6717a7a3189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交互与问答" id="{55341e91-d403-e4e3-c083-4ff66700483f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开场：这份文件逐屏讲清首页每个设计决定的原因——为什么用这个字体、这个字号、这个颜色、这个间距，以及每个板块要表达什么品牌信息。所有理由都回到贵司两份材料：《品牌升级方案 v3》和 9/24、9/29 内容架构会议纪要。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目录：设计依据 → 设计系统 → 逐屏解说 → 交互与问答。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客户最认可的一句话是：“这是按你们自己定的方向做的。”所以每一页的理由都标注了出处：品牌方案、会议纪要、受众定位。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客户方确认的对标：UI 层面参考梅赛德斯-奔驰和沃尔沃，内容层面（更偏功能）参考福特、丰田、铃木。首页的字体、按钮反馈、大图留白主要参考前两者；车系组织、动力形式标识、场景化介绍参考后三者。动力形式图标目前首页还没有加，建议在车型区补上，下一版可以出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品牌方案原话：新标识要“黑白核心色、去装饰化、专业感与国际感更强”；会议要求首页“拉高品牌调性、参考奢侈品官网”。我们因此做了三件事：统一、减法、全球化叙事。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整页按“三幕”组织：我是谁 → 我能做什么 → 保持联系。像一本品牌画册，而不是模块的堆砌。深浅屏交替（深 · 深 · 浅 · 浅 · 深 · 深 · 浅 · 深 · 深），给长页面呼吸节奏。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先讲规则，再讲页面。客户问“为什么这里是这个字号”，答案都在这一章。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为什么三套？一套负责“品牌声音”（Michroma），一套负责“读得舒服”（Geist），一套负责“工程标注”（Geist Mono）。客户喜欢的参考站 Outer Spaces、Lightship、Rivian 都是“一套无衬线 + 一套等宽”，标题不用粗体，靠字号拉开层级。左侧是首页里的实际渲染截图。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客户常问：“标题为什么不用粗体？”——Michroma 只有 Regular；宽体字的视觉重量已足够；新标识方向是“线条细锐”。“为什么首屏标题不再大一点？”——72 已占约 57% 屏宽，再大会与车抢主角，并在 1440 屏折行。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“导航为什么是 18？”——导航是用户最常点的地方。原 16px 在大屏偏小；18 在 1920 与 1440 屏都清楚，又比标题小得多，不会喧宾夺主。用 Regular 而非粗体，压在视频上也安静。“正文为什么 20？”——大屏阅读距离下 20 最舒适，150% 行高给足呼吸。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为什么不用我们的蓝色？”——新品牌方案已把核心色定为黑白，亮蓝是“一抹”点缀，代表电动能量。我们把它用在最能体现“能量”的时刻：用户悬停、聚焦时亮起。深色背景上原色对比度不够，所以深底用浅一档的 #6E9BF0。地球的蓝绿色属于数据可视化，只在地球上出现。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“为什么这里空这么多？”——留白是奢侈品官网的核心手法（会议要求参考）。所有间距用同一把尺子，每一屏呼吸感一致，整页看下来稳；开发也能直接变量化。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悬停只改变颜色，不加底色、不加粗——反馈清楚但克制，不破坏版面。蓝色只在用户触碰时出现，对应品牌方案里“一抹亮蓝＝电动能量”。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接下来逐屏讲。每页左侧截图上的编号，对应右侧的解说。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客户问“导航为什么是 18？”：导航是全站最常用的工具，原 16px 在 1920 大屏上显得小，18 更稳重也更好点；但我们没有加粗，因为它压在首屏视频上，太重会抢画面。参考了会议里提到的奔驰：字体简洁、层级克制。公告栏的箭头不是装饰，而是 Logo“向前、向上”的延伸。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首屏只做三件事：一句主张（Maximize Your Business）、一个画面（行驶中的车）、三句身份（欧洲出身 / 全系产品 / 1896 传承）。信息栏用一根 1px 细线托住，像画册的图注。“为什么标题这么小？”——72 在 1920 屏一行已占约 57% 宽度；更大会与车抢视线。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这一屏回应会议要求“突出 Glocal 与全球布局”。滚动开始前地球缓慢自转（约 20 秒一圈），给用户一个安静的进场。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照片按国家由 CMS 配置，没有配置的国家显示所在大区的通用图。当前为 AI 示意图，上线前换实拍。动效：照片从定位点方向依次放大浮出（0.6→1，间隔 120ms），引线跟着画出。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数字滚到位后只计数一次（1.4 秒，依次间隔 120ms），停在任何位置都显示正确终值。原稿数字用 D-DIN 粗体压在照片上，看不清也挡车；现在改为细的大号数字。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会议结论：首页核心是拉高调性，车型链接“可有可无”，所以车型区只负责让用户知道“我们有这八个家族”。横幅左侧压暗已减轻，墙面质感透出来，车更清楚。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这一版沿用客户已看过的第一版结构（三列视频入口），只在字体、按钮质感上精修，便于过稿。点击卡片打开详情（弹窗已设计）。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电驱与越野是一组“工程能力”章节，用整屏画面讲。文字统一放在左下角同一位置，两屏读起来像画册的两页。按钮从白底黑字改为文字链接，是客户“首页不要太多跳转按钮”的要求。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会议纪要：取消独立 Blog，合并为 News and Insights，分为全球品牌新闻、国家新闻、产品洞察三类。卡片图圆角 4，与按钮同一圆角；页边距按规范统一为 120 / 140。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订阅是首页唯一保留实心样式的按钮：其他入口都是“了解更多”，只有这里是用户主动留下联系方式的转化动作。背景图为 AI 示意，上线前换实拍。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页脚回归常规：好找、松散、清楚，不做花样。“Choose Your Market”是全球站的重要出口：全球站负责形象，国家站负责价格与配置（9/29 会议）。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演示时直接打开 HTML 原型滚动给客户看。三段节奏：安静进场 → 找到“你” → 用数据收尾。数字只计数一次，避免停在中间值。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如果客户坚持使用蓝色：可以只用在一处关键动作上（例如订阅按钮的悬停），不建议做成大面积按钮或底色。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结尾把需要客户提供的素材和确认项列清楚，推动进入下一阶段。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A1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D6BFF"/>
                </a:solidFill>
              </a:rPr>
              <a:t>DRIVE THE CHARGE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1488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F98"/>
                </a:solidFill>
              </a:rPr>
              <a:t>驭电先行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1A1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D6BFF"/>
                </a:solidFill>
              </a:rPr>
              <a:t>DRIVE THE CHARGE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21488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F98"/>
                </a:solidFill>
              </a:rPr>
              <a:t>驭电先行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_DARK">
    <p:bg>
      <p:bgPr>
        <a:solidFill>
          <a:srgbClr val="1A1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image" Target="../media/image-6-7.jpg"/><Relationship Id="rId8" Type="http://schemas.openxmlformats.org/officeDocument/2006/relationships/image" Target="../media/image-6-8.jpg"/><Relationship Id="rId9" Type="http://schemas.openxmlformats.org/officeDocument/2006/relationships/image" Target="../media/image-6-9.jpg"/><Relationship Id="rId10" Type="http://schemas.openxmlformats.org/officeDocument/2006/relationships/image" Target="../media/image-6-10.jpg"/><Relationship Id="rId11" Type="http://schemas.openxmlformats.org/officeDocument/2006/relationships/image" Target="../media/image-6-11.jp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image" Target="../media/image-26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img/mark_gr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822960"/>
            <a:ext cx="6949440" cy="4787392"/>
          </a:xfrm>
          <a:prstGeom prst="rect">
            <a:avLst/>
          </a:prstGeom>
        </p:spPr>
      </p:pic>
      <p:pic>
        <p:nvPicPr>
          <p:cNvPr id="3" name="Image 1" descr="/home/user/Claude/deck/img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737360" cy="39090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417320"/>
            <a:ext cx="7315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 Web UI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设计解说</a:t>
            </a:r>
            <a:endParaRPr lang="en-US" sz="5400" dirty="0"/>
          </a:p>
        </p:txBody>
      </p:sp>
      <p:sp>
        <p:nvSpPr>
          <p:cNvPr id="5" name="Shape 1"/>
          <p:cNvSpPr/>
          <p:nvPr/>
        </p:nvSpPr>
        <p:spPr>
          <a:xfrm>
            <a:off x="548640" y="315468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32461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HOMEPAGE WEB UI  ·  DESIGN RATIONALE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6576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WHAT WE CHANGED,</a:t>
            </a:r>
            <a:endParaRPr lang="en-US" sz="2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AND WHY.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首页每个板块、字号、颜色和间距的设计说明。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2578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DRIVE THE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CHARGE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099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驭电先行  ·  MAXUS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981425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2026.10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目录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CONTENTS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ONE MAXUS.</a:t>
            </a:r>
            <a:endParaRPr lang="en-US" sz="2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 100 COUNTRIES.</a:t>
            </a:r>
            <a:endParaRPr lang="en-US" sz="2200" dirty="0"/>
          </a:p>
        </p:txBody>
      </p:sp>
      <p:pic>
        <p:nvPicPr>
          <p:cNvPr id="6" name="Image 0" descr="/home/user/Claude/deck/img/mark_gr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548640" y="3931920"/>
            <a:ext cx="4206240" cy="28976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2578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DRIVE THE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CHARGE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099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驭电先行  ·  MAXUS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19202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4A4B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00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7985455" y="19933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设计依据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7985455" y="24323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Design Basis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2907792"/>
            <a:ext cx="579089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52160" y="299923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4A4B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5400" dirty="0"/>
          </a:p>
        </p:txBody>
      </p:sp>
      <p:sp>
        <p:nvSpPr>
          <p:cNvPr id="14" name="Text 11"/>
          <p:cNvSpPr txBox="1"/>
          <p:nvPr/>
        </p:nvSpPr>
        <p:spPr>
          <a:xfrm>
            <a:off x="7985455" y="3072384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设计系统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7985455" y="35112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Typography · Color · Spacing · Hover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852160" y="3986784"/>
            <a:ext cx="579089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52160" y="4078224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4A4B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5400" dirty="0"/>
          </a:p>
        </p:txBody>
      </p:sp>
      <p:sp>
        <p:nvSpPr>
          <p:cNvPr id="18" name="Text 15"/>
          <p:cNvSpPr txBox="1"/>
          <p:nvPr/>
        </p:nvSpPr>
        <p:spPr>
          <a:xfrm>
            <a:off x="7985455" y="41513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逐屏解说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985455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Screen by Screen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852160" y="5065776"/>
            <a:ext cx="579089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852160" y="515721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4A4B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5400" dirty="0"/>
          </a:p>
        </p:txBody>
      </p:sp>
      <p:sp>
        <p:nvSpPr>
          <p:cNvPr id="22" name="Text 19"/>
          <p:cNvSpPr txBox="1"/>
          <p:nvPr/>
        </p:nvSpPr>
        <p:spPr>
          <a:xfrm>
            <a:off x="7985455" y="52303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交互与问答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985455" y="5669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Motion · Q&amp;A · Next Steps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852160" y="6144768"/>
            <a:ext cx="579089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设计依据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贵司的品牌方案和两次会议结论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DESIGN BASIS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15258" cy="448056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603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品牌升级方案 v3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8680" y="3063240"/>
            <a:ext cx="287517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200400"/>
            <a:ext cx="28751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口号 Drive the Charge / 驭电先行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黑白核心色：trust · clarity · authority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线条由粗重变细锐，去装饰化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一抹高饱和亮蓝，代表电动能量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European-born · Since 1896 · 100+ 国家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8218" y="1600200"/>
            <a:ext cx="3515258" cy="448056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8258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58258" y="25603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内容架构会议纪要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658258" y="3063240"/>
            <a:ext cx="287517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58258" y="3200400"/>
            <a:ext cx="28751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首页目标：拉高品牌调性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参考奢侈品官网，跳出传统车企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首页不放配置表，车型以“家族”呈现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News 与 Blog 合并为 News &amp; Insights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页脚只做直达链接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27797" y="1600200"/>
            <a:ext cx="3515258" cy="448056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47837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447837" y="256032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受众与竞品参考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447837" y="3063240"/>
            <a:ext cx="287517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47837" y="3200400"/>
            <a:ext cx="28751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受众：车队、司机、工程现场用户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风格是 Professional，不是 Business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UI 参考：梅赛德斯-奔驰、沃尔沃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内容参考：福特、丰田、铃木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全球站负责品牌展示，不直接卖车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竞品参考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UI 看奔驰、沃尔沃，内容看福特、丰田、铃木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REFERENCES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64328" cy="452628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3736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UI 层面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01168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梅赛德斯-奔驰  ·  沃尔沃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14400" y="2606040"/>
            <a:ext cx="463280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788920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字体简洁、层级克制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081528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标题不加粗、靠字号区分层级；正文统一一套字体。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575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575304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按钮悬停反馈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86791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悬停只变色、箭头右移，反馈清楚但不花哨（会议纪要点名参考奔驰）。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361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4361688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大图 + 留白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654296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整屏实拍大图，文字少而集中，页面有足够留白。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148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5148072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黑白为主的配色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417320" y="5440680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界面以黑白灰为主，颜色只做点缀。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78728" y="1508760"/>
            <a:ext cx="5364328" cy="452628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44488" y="173736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内容层面（功能导向）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644488" y="201168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福特  ·  丰田  ·  铃木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644488" y="2606040"/>
            <a:ext cx="463280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4488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147408" y="2788920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按车系组织产品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47408" y="3081528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首页按车系展示，用户先选车型类别，再进入详情。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44488" y="3575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147408" y="3575304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动力形式图标化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147408" y="3867912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纯电、混动、柴油用图标标出（会议纪要提到参考丰田）。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644488" y="4361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147408" y="4361688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讲用途、讲场景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147408" y="4654296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用实际工作场景介绍车辆和技术，而不是堆参数。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644488" y="5148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147408" y="5148072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导向国家站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147408" y="5440680"/>
            <a:ext cx="412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全球站负责展示，具体价格和配置交给国家站。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设计思路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这一版主要做了三件事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PRINCIPLES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60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345429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15468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统一规范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39312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CONSISTENCY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69080"/>
            <a:ext cx="34542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原稿里 Michroma、Arimo、D-DIN 等字体混用，字号和间距也不统一。这一版整理成一套规范：12 级字号、16 个颜色、间距统一用 8 的倍数，各国站可以直接沿用。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68698" y="17373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6000" dirty="0"/>
          </a:p>
        </p:txBody>
      </p:sp>
      <p:sp>
        <p:nvSpPr>
          <p:cNvPr id="11" name="Shape 9"/>
          <p:cNvSpPr/>
          <p:nvPr/>
        </p:nvSpPr>
        <p:spPr>
          <a:xfrm>
            <a:off x="4368698" y="2971800"/>
            <a:ext cx="345429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68698" y="315468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减少干扰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368698" y="3639312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LESS NOISE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368698" y="4069080"/>
            <a:ext cx="34542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去掉界面里的大面积蓝色和多余装饰，按钮改为“文字 + 箭头”。页面元素少了，车和画面更突出，这也是会议里提到的奢侈品官网的做法。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188757" y="17373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6000" dirty="0"/>
          </a:p>
        </p:txBody>
      </p:sp>
      <p:sp>
        <p:nvSpPr>
          <p:cNvPr id="16" name="Shape 14"/>
          <p:cNvSpPr/>
          <p:nvPr/>
        </p:nvSpPr>
        <p:spPr>
          <a:xfrm>
            <a:off x="8188757" y="2971800"/>
            <a:ext cx="3454298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88757" y="315468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突出全球布局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188757" y="3639312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GLOBAL → LOCAL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188757" y="4069080"/>
            <a:ext cx="34542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原来的照片拼贴信息多但不聚焦。现在用地球展示 100+ 国家，并按用户 IP 定位到所在国家、展示当地用车照片，对应会议提出的 Global Brand, Local Action。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首页结构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共 10 屏，分三部分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PAGE STRUCTURE</a:t>
            </a:r>
            <a:endParaRPr lang="en-US" sz="900" dirty="0"/>
          </a:p>
        </p:txBody>
      </p:sp>
      <p:pic>
        <p:nvPicPr>
          <p:cNvPr id="5" name="Image 0" descr="/home/user/Claude/deck/img/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925456" cy="6940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首屏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品牌主张</a:t>
            </a:r>
            <a:endParaRPr lang="en-US" sz="900" dirty="0"/>
          </a:p>
        </p:txBody>
      </p:sp>
      <p:pic>
        <p:nvPicPr>
          <p:cNvPr id="9" name="Image 1" descr="/home/user/Claude/deck/img/globe0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565536" y="1783080"/>
            <a:ext cx="925456" cy="6940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65536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565536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全球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1565536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一个品牌</a:t>
            </a:r>
            <a:endParaRPr lang="en-US" sz="900" dirty="0"/>
          </a:p>
        </p:txBody>
      </p:sp>
      <p:pic>
        <p:nvPicPr>
          <p:cNvPr id="13" name="Image 2" descr="/home/user/Claude/deck/img/globe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582432" y="1783080"/>
            <a:ext cx="925456" cy="6940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582432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02a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2582432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本地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2582432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用户所在国</a:t>
            </a:r>
            <a:endParaRPr lang="en-US" sz="900" dirty="0"/>
          </a:p>
        </p:txBody>
      </p:sp>
      <p:pic>
        <p:nvPicPr>
          <p:cNvPr id="17" name="Image 3" descr="/home/user/Claude/deck/img/globeB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599328" y="1783080"/>
            <a:ext cx="925456" cy="69409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3599328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02b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3599328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3599328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1896 · 100+</a:t>
            </a:r>
            <a:endParaRPr lang="en-US" sz="900" dirty="0"/>
          </a:p>
        </p:txBody>
      </p:sp>
      <p:pic>
        <p:nvPicPr>
          <p:cNvPr id="21" name="Image 4" descr="/home/user/Claude/deck/img/vehicles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616224" y="1783080"/>
            <a:ext cx="925456" cy="69409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616224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900" dirty="0"/>
          </a:p>
        </p:txBody>
      </p:sp>
      <p:sp>
        <p:nvSpPr>
          <p:cNvPr id="23" name="Text 16"/>
          <p:cNvSpPr txBox="1"/>
          <p:nvPr/>
        </p:nvSpPr>
        <p:spPr>
          <a:xfrm>
            <a:off x="4616224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车型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4616224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七大家族</a:t>
            </a:r>
            <a:endParaRPr lang="en-US" sz="900" dirty="0"/>
          </a:p>
        </p:txBody>
      </p:sp>
      <p:pic>
        <p:nvPicPr>
          <p:cNvPr id="25" name="Image 5" descr="/home/user/Claude/deck/img/tech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633120" y="1783080"/>
            <a:ext cx="925456" cy="69409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633120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5633120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科技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5633120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三大能力</a:t>
            </a:r>
            <a:endParaRPr lang="en-US" sz="900" dirty="0"/>
          </a:p>
        </p:txBody>
      </p:sp>
      <p:pic>
        <p:nvPicPr>
          <p:cNvPr id="29" name="Image 6" descr="/home/user/Claude/deck/img/electric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650016" y="1783080"/>
            <a:ext cx="925456" cy="69409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650016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</a:t>
            </a:r>
            <a:endParaRPr lang="en-US" sz="900" dirty="0"/>
          </a:p>
        </p:txBody>
      </p:sp>
      <p:sp>
        <p:nvSpPr>
          <p:cNvPr id="31" name="Text 22"/>
          <p:cNvSpPr txBox="1"/>
          <p:nvPr/>
        </p:nvSpPr>
        <p:spPr>
          <a:xfrm>
            <a:off x="6650016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电驱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6650016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工程章节</a:t>
            </a:r>
            <a:endParaRPr lang="en-US" sz="900" dirty="0"/>
          </a:p>
        </p:txBody>
      </p:sp>
      <p:pic>
        <p:nvPicPr>
          <p:cNvPr id="33" name="Image 7" descr="/home/user/Claude/deck/img/offroad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7666911" y="1783080"/>
            <a:ext cx="925456" cy="694092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7666911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</a:t>
            </a:r>
            <a:endParaRPr lang="en-US" sz="900" dirty="0"/>
          </a:p>
        </p:txBody>
      </p:sp>
      <p:sp>
        <p:nvSpPr>
          <p:cNvPr id="35" name="Text 25"/>
          <p:cNvSpPr txBox="1"/>
          <p:nvPr/>
        </p:nvSpPr>
        <p:spPr>
          <a:xfrm>
            <a:off x="7666911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越野</a:t>
            </a:r>
            <a:endParaRPr lang="en-US" sz="1300" dirty="0"/>
          </a:p>
        </p:txBody>
      </p:sp>
      <p:sp>
        <p:nvSpPr>
          <p:cNvPr id="36" name="Text 26"/>
          <p:cNvSpPr txBox="1"/>
          <p:nvPr/>
        </p:nvSpPr>
        <p:spPr>
          <a:xfrm>
            <a:off x="7666911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工程章节</a:t>
            </a:r>
            <a:endParaRPr lang="en-US" sz="900" dirty="0"/>
          </a:p>
        </p:txBody>
      </p:sp>
      <p:pic>
        <p:nvPicPr>
          <p:cNvPr id="37" name="Image 8" descr="/home/user/Claude/deck/img/news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683807" y="1783080"/>
            <a:ext cx="925456" cy="694092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8683807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07</a:t>
            </a:r>
            <a:endParaRPr lang="en-US" sz="900" dirty="0"/>
          </a:p>
        </p:txBody>
      </p:sp>
      <p:sp>
        <p:nvSpPr>
          <p:cNvPr id="39" name="Text 28"/>
          <p:cNvSpPr txBox="1"/>
          <p:nvPr/>
        </p:nvSpPr>
        <p:spPr>
          <a:xfrm>
            <a:off x="8683807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资讯</a:t>
            </a:r>
            <a:endParaRPr lang="en-US" sz="1300" dirty="0"/>
          </a:p>
        </p:txBody>
      </p:sp>
      <p:sp>
        <p:nvSpPr>
          <p:cNvPr id="40" name="Text 29"/>
          <p:cNvSpPr txBox="1"/>
          <p:nvPr/>
        </p:nvSpPr>
        <p:spPr>
          <a:xfrm>
            <a:off x="8683807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News &amp; Insights</a:t>
            </a:r>
            <a:endParaRPr lang="en-US" sz="900" dirty="0"/>
          </a:p>
        </p:txBody>
      </p:sp>
      <p:pic>
        <p:nvPicPr>
          <p:cNvPr id="41" name="Image 9" descr="/home/user/Claude/deck/img/subscribe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9700703" y="1783080"/>
            <a:ext cx="925456" cy="69409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9700703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08</a:t>
            </a:r>
            <a:endParaRPr lang="en-US" sz="900" dirty="0"/>
          </a:p>
        </p:txBody>
      </p:sp>
      <p:sp>
        <p:nvSpPr>
          <p:cNvPr id="43" name="Text 31"/>
          <p:cNvSpPr txBox="1"/>
          <p:nvPr/>
        </p:nvSpPr>
        <p:spPr>
          <a:xfrm>
            <a:off x="9700703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订阅</a:t>
            </a:r>
            <a:endParaRPr lang="en-US" sz="1300" dirty="0"/>
          </a:p>
        </p:txBody>
      </p:sp>
      <p:sp>
        <p:nvSpPr>
          <p:cNvPr id="44" name="Text 32"/>
          <p:cNvSpPr txBox="1"/>
          <p:nvPr/>
        </p:nvSpPr>
        <p:spPr>
          <a:xfrm>
            <a:off x="9700703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唯一转化</a:t>
            </a:r>
            <a:endParaRPr lang="en-US" sz="900" dirty="0"/>
          </a:p>
        </p:txBody>
      </p:sp>
      <p:pic>
        <p:nvPicPr>
          <p:cNvPr id="45" name="Image 10" descr="/home/user/Claude/deck/img/footer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0717599" y="1783080"/>
            <a:ext cx="925456" cy="694092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10717599" y="2614332"/>
            <a:ext cx="92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09</a:t>
            </a:r>
            <a:endParaRPr lang="en-US" sz="900" dirty="0"/>
          </a:p>
        </p:txBody>
      </p:sp>
      <p:sp>
        <p:nvSpPr>
          <p:cNvPr id="47" name="Text 34"/>
          <p:cNvSpPr txBox="1"/>
          <p:nvPr/>
        </p:nvSpPr>
        <p:spPr>
          <a:xfrm>
            <a:off x="10717599" y="2842932"/>
            <a:ext cx="92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页脚</a:t>
            </a:r>
            <a:endParaRPr lang="en-US" sz="1300" dirty="0"/>
          </a:p>
        </p:txBody>
      </p:sp>
      <p:sp>
        <p:nvSpPr>
          <p:cNvPr id="48" name="Text 35"/>
          <p:cNvSpPr txBox="1"/>
          <p:nvPr/>
        </p:nvSpPr>
        <p:spPr>
          <a:xfrm>
            <a:off x="10717599" y="3135540"/>
            <a:ext cx="92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直达链接</a:t>
            </a:r>
            <a:endParaRPr lang="en-US" sz="900" dirty="0"/>
          </a:p>
        </p:txBody>
      </p:sp>
      <p:sp>
        <p:nvSpPr>
          <p:cNvPr id="49" name="Shape 36"/>
          <p:cNvSpPr/>
          <p:nvPr/>
        </p:nvSpPr>
        <p:spPr>
          <a:xfrm>
            <a:off x="548640" y="416052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548640" y="4434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第一幕 · 我是谁</a:t>
            </a:r>
            <a:endParaRPr lang="en-US" sz="1500" dirty="0"/>
          </a:p>
        </p:txBody>
      </p:sp>
      <p:sp>
        <p:nvSpPr>
          <p:cNvPr id="51" name="Text 38"/>
          <p:cNvSpPr txBox="1"/>
          <p:nvPr/>
        </p:nvSpPr>
        <p:spPr>
          <a:xfrm>
            <a:off x="548640" y="47823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首屏 + 全球 + 数据</a:t>
            </a:r>
            <a:endParaRPr lang="en-US" sz="1000" dirty="0"/>
          </a:p>
        </p:txBody>
      </p:sp>
      <p:sp>
        <p:nvSpPr>
          <p:cNvPr id="52" name="Text 39"/>
          <p:cNvSpPr txBox="1"/>
          <p:nvPr/>
        </p:nvSpPr>
        <p:spPr>
          <a:xfrm>
            <a:off x="548640" y="509320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先介绍品牌：欧洲出身、1896 年起步、100+ 国家。品牌方案里提到，欧洲血统是海外用户建立信任最快的方式。</a:t>
            </a:r>
            <a:endParaRPr lang="en-US" sz="1200" dirty="0"/>
          </a:p>
        </p:txBody>
      </p:sp>
      <p:sp>
        <p:nvSpPr>
          <p:cNvPr id="53" name="Text 40"/>
          <p:cNvSpPr txBox="1"/>
          <p:nvPr/>
        </p:nvSpPr>
        <p:spPr>
          <a:xfrm>
            <a:off x="4297680" y="4434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第二幕 · 我能做什么</a:t>
            </a:r>
            <a:endParaRPr lang="en-US" sz="1500" dirty="0"/>
          </a:p>
        </p:txBody>
      </p:sp>
      <p:sp>
        <p:nvSpPr>
          <p:cNvPr id="54" name="Text 41"/>
          <p:cNvSpPr txBox="1"/>
          <p:nvPr/>
        </p:nvSpPr>
        <p:spPr>
          <a:xfrm>
            <a:off x="4297680" y="47823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车型 + 科技 + 电驱 + 越野</a:t>
            </a:r>
            <a:endParaRPr lang="en-US" sz="1000" dirty="0"/>
          </a:p>
        </p:txBody>
      </p:sp>
      <p:sp>
        <p:nvSpPr>
          <p:cNvPr id="55" name="Text 42"/>
          <p:cNvSpPr txBox="1"/>
          <p:nvPr/>
        </p:nvSpPr>
        <p:spPr>
          <a:xfrm>
            <a:off x="4297680" y="509320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按车系和技术能力介绍产品，不放具体型号和配置表（9/29 会议结论）。</a:t>
            </a:r>
            <a:endParaRPr lang="en-US" sz="1200" dirty="0"/>
          </a:p>
        </p:txBody>
      </p:sp>
      <p:sp>
        <p:nvSpPr>
          <p:cNvPr id="56" name="Text 43"/>
          <p:cNvSpPr txBox="1"/>
          <p:nvPr/>
        </p:nvSpPr>
        <p:spPr>
          <a:xfrm>
            <a:off x="8046720" y="4434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第三幕 · 保持联系</a:t>
            </a:r>
            <a:endParaRPr lang="en-US" sz="1500" dirty="0"/>
          </a:p>
        </p:txBody>
      </p:sp>
      <p:sp>
        <p:nvSpPr>
          <p:cNvPr id="57" name="Text 44"/>
          <p:cNvSpPr txBox="1"/>
          <p:nvPr/>
        </p:nvSpPr>
        <p:spPr>
          <a:xfrm>
            <a:off x="8046720" y="47823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资讯 + 订阅 + 页脚</a:t>
            </a:r>
            <a:endParaRPr lang="en-US" sz="1000" dirty="0"/>
          </a:p>
        </p:txBody>
      </p:sp>
      <p:sp>
        <p:nvSpPr>
          <p:cNvPr id="58" name="Text 45"/>
          <p:cNvSpPr txBox="1"/>
          <p:nvPr/>
        </p:nvSpPr>
        <p:spPr>
          <a:xfrm>
            <a:off x="8046720" y="509320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资讯区展示新闻；订阅是全页唯一的实心按钮；页脚只放直达链接。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img/mark_gr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097280"/>
            <a:ext cx="6583680" cy="45354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dirty="0">
                <a:solidFill>
                  <a:srgbClr val="4A4B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880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设计系统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548640" y="393192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0416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字体 · 字号 · 颜色 · 间距 · 悬停效果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2578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DRIVE THE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CHARGE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099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驭电先行  ·  MAXUS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字体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为什么用这三套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TYPEFACES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572000" cy="128016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pic>
        <p:nvPicPr>
          <p:cNvPr id="6" name="Image 0" descr="/home/user/Claude/deck/img/sp_michro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27682"/>
            <a:ext cx="4206240" cy="4251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6459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Michroma Regular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965960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标题 / 品牌声音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486400" y="2221992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贵司提供的品牌字体，字形和 MAXUS 字标风格一致。只用 Regular：这款字体本身没有粗体，而且字形较宽，不加粗也足够醒目；新标识的方向也是“线条变细”。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48640" y="3108960"/>
            <a:ext cx="4572000" cy="128016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pic>
        <p:nvPicPr>
          <p:cNvPr id="11" name="Image 1" descr="/home/user/Claude/deck/img/sp_ligh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533556"/>
            <a:ext cx="4206240" cy="4309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315468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Geist Light / Regular / Medium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3474720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正文 · 导航 · 数字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0" y="3730752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一款现代无衬线字体，大字小字都清晰，支持欧洲多语言字符。用来替换原稿的 Arimo 和 D-DIN 粗体。大数字用 Light 细体，字号大但不显得笨重。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48640" y="4617720"/>
            <a:ext cx="4572000" cy="128016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pic>
        <p:nvPicPr>
          <p:cNvPr id="16" name="Image 2" descr="/home/user/Claude/deck/img/sp_mon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004647"/>
            <a:ext cx="4206240" cy="5063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486400" y="466344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Geist Mono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0" y="4983480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标签 · 日期 · 地点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0" y="5239512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等宽字体常用于车辆铭牌、VIN 码这类工程标注，有工业感，符合会议提出的“Professional，不是 Business”。只用于日期、地点、标签这类短文字。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标题字号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为什么是 72 / 56 / 44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TYPE SCALE · DISPLAY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00200"/>
                <a:gridCol w="1600200"/>
                <a:gridCol w="2103120"/>
                <a:gridCol w="4645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层级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字体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字号 / 行高 / 字距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用在哪里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为什么是这个数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Display 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Michroma Regular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72 / 112% / −2%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首屏主标题（全页仅 1 处）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在 1920 宽的屏幕上，一行约占 57% 宽度，足够醒目，同时把画面上方留给车。如果用 96，会占到 76%，在 1440 屏会换行，也会挡住车。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H1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Michroma Regular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56 / 115% / −2%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所有板块标题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所有板块标题统一用 56，整页风格一致。它比首屏标题小一级，层级清楚；两行的标题（如 News &amp; Insights）也能放进 400px 宽的栏。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H2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Michroma Regular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44 / 118% / −1.5%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车型名、订阅 Keep up with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比板块标题小一级，用在车型名等板块内部的标题，避免和板块标题抢层级。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Card Title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Geist Regular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32 / 125% / −1.5%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科技详情卡标题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卡片里的标题需要阅读，所以换成更易读的 Geist。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H4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Geist Medium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24 / 130% / −1%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新闻标题、科技卡名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图片下方的短标题。用 Medium 稍粗一点，和正文区分开；24 比正文 20 大一档，能看出是标题。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Data Display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Geist Light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96 / 100% / −5%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1896 · 100+ · 1.2M+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这三个数字是品牌最有说服力的信息，所以用全页最大的字号。用细体避免显得笨重，字距收紧让数字更紧凑。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比例：96 → 72 → 56 → 44 → 32 → 24，相邻约 ×1.27–1.33（大三度音阶式比例），层级在远看时依然清楚。Michroma 只有 Regular，所有层级都不加粗。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正文字号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为什么导航 18、正文 20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TYPE SCALE · TEXT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00200"/>
                <a:gridCol w="1600200"/>
                <a:gridCol w="2103120"/>
                <a:gridCol w="4645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层级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字体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字号 / 行高 / 字距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用在哪里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3A7A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为什么是这个数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76200" marT="50800" marB="762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A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Body L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Geist Regular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22 / 150% / −0.5%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板块导语（宽 620–820）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标题下方的一两句介绍。宽度控制在 620–820px，每行 60–75 个字符，读起来不累。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Body M 20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Geist Regular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 / 150% / −0.5%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首屏信息栏、车型描述、板块正文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原来 18px 在大屏上偏小，统一改成 20。行高 150%（30px），两三行文字也不挤。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Body S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Geist Regular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16 / 145% / 0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照片说明、数据说明、公告栏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用于图片说明等辅助信息。全站正文最小 16，不再用更小的字。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Nav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Geist Regular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18 / 120% / −0.5%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顶部导航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导航用得最多，原来 16px 在大屏上偏小，改成 18 更容易看清和点击。不加粗，因为它叠在首屏视频上，太粗会抢画面。这也是会议提到的奔驰官网的做法。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Button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Geist Medium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16 / 120% / −0.5%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文字链接（+16px 箭头，间距 10）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按客户要求，首页按钮改为文字链接。用 Medium 稍粗，让用户看出可以点击；箭头 16px，和文字对齐。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Data Mono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Geist Mono Regular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14 / 140% / 0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4B7B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日期、地点、标签（大写）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5D7D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日期、地点、标签用的小字，统一大写。14 是这类字体能看清的最小字号。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1016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规则：正文 ≥ 16，标注 ≥ 14；不单独改行高与字距——需要调整时改样式本身，全站同步。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颜色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黑白为主，蓝色只用在悬停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COLOR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品牌核心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194560" y="1463040"/>
            <a:ext cx="1417320" cy="566928"/>
          </a:xfrm>
          <a:prstGeom prst="rect">
            <a:avLst/>
          </a:prstGeom>
          <a:solidFill>
            <a:srgbClr val="0A0A0B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94560" y="20848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Ink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#0A0A0B  ·  主文字 / 浅底主按钮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730752" y="1463040"/>
            <a:ext cx="14173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20848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White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#FFFFFF  ·  深底文字 / 页面底色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266944" y="1463040"/>
            <a:ext cx="1417320" cy="566928"/>
          </a:xfrm>
          <a:prstGeom prst="rect">
            <a:avLst/>
          </a:prstGeom>
          <a:solidFill>
            <a:srgbClr val="1E5FC8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66944" y="20848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Brand Blue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266944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#1E5FC8  ·  浅底 Hover / Focus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803136" y="1463040"/>
            <a:ext cx="1417320" cy="566928"/>
          </a:xfrm>
          <a:prstGeom prst="rect">
            <a:avLst/>
          </a:prstGeom>
          <a:solidFill>
            <a:srgbClr val="6E9BF0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03136" y="20848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Blue Light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803136" y="2286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#6E9BF0  ·  深底 Hover（对比≈7:1）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880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中性灰阶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94560" y="2880360"/>
            <a:ext cx="1417320" cy="566928"/>
          </a:xfrm>
          <a:prstGeom prst="rect">
            <a:avLst/>
          </a:prstGeom>
          <a:solidFill>
            <a:srgbClr val="5A5F68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3502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Gray 600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703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#5A5F68  ·  说明文字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730752" y="2880360"/>
            <a:ext cx="1417320" cy="566928"/>
          </a:xfrm>
          <a:prstGeom prst="rect">
            <a:avLst/>
          </a:prstGeom>
          <a:solidFill>
            <a:srgbClr val="8A8F98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30752" y="3502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Gray 400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730752" y="3703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#8A8F98  ·  日期 / 标签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266944" y="2880360"/>
            <a:ext cx="1417320" cy="566928"/>
          </a:xfrm>
          <a:prstGeom prst="rect">
            <a:avLst/>
          </a:prstGeom>
          <a:solidFill>
            <a:srgbClr val="F1F1F0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66944" y="3502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Surface Light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266944" y="3703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#F1F1F0  ·  浅色区块底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297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深色界面 · 数据可视化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194560" y="4297680"/>
            <a:ext cx="1417320" cy="566928"/>
          </a:xfrm>
          <a:prstGeom prst="rect">
            <a:avLst/>
          </a:prstGeom>
          <a:solidFill>
            <a:srgbClr val="070A11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194560" y="49194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Navy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2194560" y="5120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#070A11  ·  全球板块底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730752" y="4297680"/>
            <a:ext cx="1417320" cy="566928"/>
          </a:xfrm>
          <a:prstGeom prst="rect">
            <a:avLst/>
          </a:prstGeom>
          <a:solidFill>
            <a:srgbClr val="0C0D0F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730752" y="49194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Surface Dark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3730752" y="5120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#0C0D0F  ·  页脚底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266944" y="4297680"/>
            <a:ext cx="1417320" cy="566928"/>
          </a:xfrm>
          <a:prstGeom prst="rect">
            <a:avLst/>
          </a:prstGeom>
          <a:solidFill>
            <a:srgbClr val="1F6BC6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266944" y="49194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Globe Ocean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266944" y="5120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#1F6BC6  ·  地球海洋（仅地球）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803136" y="4297680"/>
            <a:ext cx="1417320" cy="566928"/>
          </a:xfrm>
          <a:prstGeom prst="rect">
            <a:avLst/>
          </a:prstGeom>
          <a:solidFill>
            <a:srgbClr val="61F2AD"/>
          </a:solidFill>
          <a:ln w="6350">
            <a:solidFill>
              <a:srgbClr val="3A3B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03136" y="49194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Globe Land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803136" y="5120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#61F2AD  ·  陆地点阵（仅地球）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8503920" y="1463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8503920" y="18745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黑白＝信任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50392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品牌方案：黑白核心色跨文化传达 trust、clarity、authority，去装饰化。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503920" y="28986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蓝色＝电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8503920" y="317296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方案把辅助色收敛为“一抹高饱和亮蓝，代表电动能量”。我们只让它在 Hover 时亮起——用户触碰，品牌“通电”。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503920" y="392277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不做蓝色按钮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8503920" y="419709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蓝色按钮是车企和 B2B 网站的通用做法，反而显得普通。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8503920" y="494690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深底文字透明度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8503920" y="5221224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标题 100% · 正文 80% · 说明 72% · 标签 60%，用透明度而不是新颜色拉层级。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间距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全部用 8 的倍数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SPACING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852160" cy="4480560"/>
          </a:xfrm>
          <a:prstGeom prst="rect">
            <a:avLst/>
          </a:prstGeom>
          <a:solidFill>
            <a:srgbClr val="222328"/>
          </a:solidFill>
          <a:ln w="9525">
            <a:solidFill>
              <a:srgbClr val="3A3B4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08760"/>
            <a:ext cx="365760" cy="44805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7" name="Shape 5"/>
          <p:cNvSpPr/>
          <p:nvPr/>
        </p:nvSpPr>
        <p:spPr>
          <a:xfrm>
            <a:off x="6035040" y="1508760"/>
            <a:ext cx="365760" cy="44805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508760"/>
            <a:ext cx="5852160" cy="426720"/>
          </a:xfrm>
          <a:prstGeom prst="rect">
            <a:avLst/>
          </a:prstGeom>
          <a:solidFill>
            <a:srgbClr val="3A2C1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1935480"/>
            <a:ext cx="3072384" cy="109728"/>
          </a:xfrm>
          <a:prstGeom prst="rect">
            <a:avLst/>
          </a:prstGeom>
          <a:solidFill>
            <a:srgbClr val="3A3B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87552" y="189890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眉标  Data Mono 14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2026920"/>
            <a:ext cx="731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9B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↕ 24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914400" y="2118360"/>
            <a:ext cx="3072384" cy="329184"/>
          </a:xfrm>
          <a:prstGeom prst="rect">
            <a:avLst/>
          </a:prstGeom>
          <a:solidFill>
            <a:srgbClr val="3A3B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19151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板块标题  H1 56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096512" y="2429256"/>
            <a:ext cx="731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9B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↕ 24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4400" y="2520696"/>
            <a:ext cx="3072384" cy="384048"/>
          </a:xfrm>
          <a:prstGeom prst="rect">
            <a:avLst/>
          </a:prstGeom>
          <a:solidFill>
            <a:srgbClr val="3A3B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87552" y="2621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导语  Body L 22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4096512" y="2886456"/>
            <a:ext cx="731520" cy="143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9B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↕ 32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914400" y="3002280"/>
            <a:ext cx="3072384" cy="109728"/>
          </a:xfrm>
          <a:prstGeom prst="rect">
            <a:avLst/>
          </a:prstGeom>
          <a:solidFill>
            <a:srgbClr val="3A3B4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87552" y="296570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文字链接  Button 16 →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4096512" y="3093720"/>
            <a:ext cx="73152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9B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↕ 80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914400" y="3355848"/>
            <a:ext cx="5120640" cy="1417320"/>
          </a:xfrm>
          <a:prstGeom prst="rect">
            <a:avLst/>
          </a:prstGeom>
          <a:solidFill>
            <a:srgbClr val="2C2D3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87552" y="397306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内容区（卡片 / 图片）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692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9B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120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56692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9B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120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108960" y="153619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A06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140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508760"/>
          <a:ext cx="49377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0292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页面左右边距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5FC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120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F6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1920 屏上内容宽 1680，左右各留 6%，画面有“画册”的边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板块上下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5FC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140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F6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屏与屏之间的停顿，像翻页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标题组 → 内容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5FC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80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F6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先读标题，再看内容的节奏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导语 → 文字链接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5FC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32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F6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链接紧跟导语，读完就能点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眉标 → 标题 → 导语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5FC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24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F6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同一组信息，靠近才是一组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卡片间距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5FC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12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F6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卡片成组，不散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文字 → 箭头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5FC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F6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箭头属于文字，不是独立按钮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0" marR="508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C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6720840" y="53949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全部为 8 的倍数（或 4 的细分）：开发可以直接写成变量，各国站复用时不会走样。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悬停效果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只变颜色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INTERACTION</a:t>
            </a:r>
            <a:endParaRPr lang="en-US" sz="900" dirty="0"/>
          </a:p>
        </p:txBody>
      </p:sp>
      <p:pic>
        <p:nvPicPr>
          <p:cNvPr id="5" name="Image 0" descr="/home/user/Claude/deck/img/ds_h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949440" cy="3085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818120" y="14630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文字链接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1737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文字与箭头变主题蓝；箭头右移 4px，提示“往前走”。200ms ease-out。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2677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导航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4203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文字变 #6E9BF0 + 2px 下划线（深底）。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307238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车型标签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334670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默认灰 → 悬停蓝 → 选中墨色 + 2px 下划线。三态清楚。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387705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新闻卡片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415137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标题变蓝，图片放大 1.03（400ms）。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6817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社媒 / 播放按钮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9560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细描边变蓝，底色不变。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55778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依据：会议纪要“参考奔驰的按钮悬浮状态反馈”。Figma 中已建成可交互组件“MAXUS / 文字链接（含 Hover）”，演示模式可直接体验。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img/mark_gr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097280"/>
            <a:ext cx="6583680" cy="45354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dirty="0">
                <a:solidFill>
                  <a:srgbClr val="4A4B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880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逐屏解说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548640" y="393192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0416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每一屏的设计和理由，截图上的编号对应右侧说明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2578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DRIVE THE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CHARGE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099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驭电先行  ·  MAXUS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公告栏与导航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口号放第一行，导航用 18px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 ANNOUNCEMENT &amp; NAVIGATION</a:t>
            </a:r>
            <a:endParaRPr lang="en-US" sz="900" dirty="0"/>
          </a:p>
        </p:txBody>
      </p:sp>
      <p:pic>
        <p:nvPicPr>
          <p:cNvPr id="5" name="Image 0" descr="/home/user/Claude/deck/img/crop_nav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11094415" cy="735005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3581248" y="155513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581248" y="15551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marker 2"/>
          <p:cNvSpPr/>
          <p:nvPr/>
        </p:nvSpPr>
        <p:spPr>
          <a:xfrm>
            <a:off x="1174728" y="233411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74728" y="23341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marker 3"/>
          <p:cNvSpPr/>
          <p:nvPr/>
        </p:nvSpPr>
        <p:spPr>
          <a:xfrm>
            <a:off x="5958688" y="233411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58688" y="23341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marker 4"/>
          <p:cNvSpPr/>
          <p:nvPr/>
        </p:nvSpPr>
        <p:spPr>
          <a:xfrm>
            <a:off x="10985844" y="233411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85844" y="23341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14" name="marker 5"/>
          <p:cNvSpPr/>
          <p:nvPr/>
        </p:nvSpPr>
        <p:spPr>
          <a:xfrm>
            <a:off x="2722817" y="2198045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722817" y="219804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marker 1"/>
          <p:cNvSpPr/>
          <p:nvPr/>
        </p:nvSpPr>
        <p:spPr>
          <a:xfrm>
            <a:off x="548640" y="27797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2779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960120" y="2788920"/>
            <a:ext cx="3103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公告栏 · Body S 16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3081528"/>
            <a:ext cx="31037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第一行放品牌口号 Drive the Charge。两侧的细箭头取自新 Logo 向前、向上的造型，做得细、做了渐隐，不会抢首屏画面。</a:t>
            </a:r>
            <a:endParaRPr lang="en-US" sz="1100" dirty="0"/>
          </a:p>
        </p:txBody>
      </p:sp>
      <p:sp>
        <p:nvSpPr>
          <p:cNvPr id="20" name="marker 2"/>
          <p:cNvSpPr/>
          <p:nvPr/>
        </p:nvSpPr>
        <p:spPr>
          <a:xfrm>
            <a:off x="4338218" y="27797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338218" y="2779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749698" y="2788920"/>
            <a:ext cx="3103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Logo · 横版组合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749698" y="3081528"/>
            <a:ext cx="310377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按品牌规范，高度有限的位置用横版 Logo。高 24px，和导航文字对齐。</a:t>
            </a:r>
            <a:endParaRPr lang="en-US" sz="1100" dirty="0"/>
          </a:p>
        </p:txBody>
      </p:sp>
      <p:sp>
        <p:nvSpPr>
          <p:cNvPr id="24" name="marker 3"/>
          <p:cNvSpPr/>
          <p:nvPr/>
        </p:nvSpPr>
        <p:spPr>
          <a:xfrm>
            <a:off x="8127797" y="27797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127797" y="2779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539277" y="2788920"/>
            <a:ext cx="3103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导航 · Geist Regular 18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539277" y="3081528"/>
            <a:ext cx="3103778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 16px 在大屏上偏小，改为 18，更容易看清和点击。不加粗，避免压在视频上太重。5 个一级入口居中，间距 34px。</a:t>
            </a:r>
            <a:endParaRPr lang="en-US" sz="1100" dirty="0"/>
          </a:p>
        </p:txBody>
      </p:sp>
      <p:sp>
        <p:nvSpPr>
          <p:cNvPr id="28" name="marker 4"/>
          <p:cNvSpPr/>
          <p:nvPr/>
        </p:nvSpPr>
        <p:spPr>
          <a:xfrm>
            <a:off x="548640" y="43799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4379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60120" y="4389120"/>
            <a:ext cx="3103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工具图标 · 20px 线性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960120" y="4681728"/>
            <a:ext cx="310377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搜索、下载、账户。1.5px 线宽，和全站箭头图标是同一套样式。</a:t>
            </a:r>
            <a:endParaRPr lang="en-US" sz="1100" dirty="0"/>
          </a:p>
        </p:txBody>
      </p:sp>
      <p:sp>
        <p:nvSpPr>
          <p:cNvPr id="32" name="marker 5"/>
          <p:cNvSpPr/>
          <p:nvPr/>
        </p:nvSpPr>
        <p:spPr>
          <a:xfrm>
            <a:off x="4338218" y="43799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338218" y="4379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4749698" y="4389120"/>
            <a:ext cx="3103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1px 分隔线 · 白 12%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4749698" y="4681728"/>
            <a:ext cx="310377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导航背景透明，叠在视频上；下面只加一条很淡的分隔线，不用实色底条，画面更完整。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首屏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一句标题 + 三条品牌信息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 HERO</a:t>
            </a:r>
            <a:endParaRPr lang="en-US" sz="900" dirty="0"/>
          </a:p>
        </p:txBody>
      </p:sp>
      <p:pic>
        <p:nvPicPr>
          <p:cNvPr id="5" name="hero.jpg" descr="/home/user/Claude/deck/img/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498080" cy="440512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7498080" cy="4405122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1192530" y="493699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92530" y="49369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997268" y="524941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97268" y="52494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3926205" y="528847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205" y="528847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6894195" y="524941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94195" y="52494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5"/>
          <p:cNvSpPr/>
          <p:nvPr/>
        </p:nvSpPr>
        <p:spPr>
          <a:xfrm>
            <a:off x="6269355" y="290626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9355" y="29062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000" dirty="0"/>
          </a:p>
        </p:txBody>
      </p:sp>
      <p:sp>
        <p:nvSpPr>
          <p:cNvPr id="17" name="marker 1"/>
          <p:cNvSpPr/>
          <p:nvPr/>
        </p:nvSpPr>
        <p:spPr>
          <a:xfrm>
            <a:off x="8458200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5820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0" y="148132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主标题 · Display L 72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869680" y="1773936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全页只有这里用 72。一行居中，放在画面下方，上方留给车。</a:t>
            </a:r>
            <a:endParaRPr lang="en-US" sz="1100" dirty="0"/>
          </a:p>
        </p:txBody>
      </p:sp>
      <p:sp>
        <p:nvSpPr>
          <p:cNvPr id="21" name="marker 2"/>
          <p:cNvSpPr/>
          <p:nvPr/>
        </p:nvSpPr>
        <p:spPr>
          <a:xfrm>
            <a:off x="8458200" y="22311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458200" y="2231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869680" y="224028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EUROPEAN-BORN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869680" y="2532888"/>
            <a:ext cx="277337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来自品牌定位：European-born commercial vehicle brand。</a:t>
            </a:r>
            <a:endParaRPr lang="en-US" sz="1100" dirty="0"/>
          </a:p>
        </p:txBody>
      </p:sp>
      <p:sp>
        <p:nvSpPr>
          <p:cNvPr id="25" name="marker 3"/>
          <p:cNvSpPr/>
          <p:nvPr/>
        </p:nvSpPr>
        <p:spPr>
          <a:xfrm>
            <a:off x="8458200" y="317754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869680" y="3186684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一句话产品线 · Body M 20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869680" y="3479292"/>
            <a:ext cx="277337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一句话说明产品线：从轻客、皮卡到重卡，纯电、混动、柴油都有。来自品牌方案的标准介绍。</a:t>
            </a:r>
            <a:endParaRPr lang="en-US" sz="1100" dirty="0"/>
          </a:p>
        </p:txBody>
      </p:sp>
      <p:sp>
        <p:nvSpPr>
          <p:cNvPr id="29" name="marker 4"/>
          <p:cNvSpPr/>
          <p:nvPr/>
        </p:nvSpPr>
        <p:spPr>
          <a:xfrm>
            <a:off x="8458200" y="412394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458200" y="4123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8869680" y="413308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HERITAGE SINCE 1896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869680" y="4425696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品牌方案提出，欧洲血统是海外用户建立信任最快的方式。</a:t>
            </a:r>
            <a:endParaRPr lang="en-US" sz="1100" dirty="0"/>
          </a:p>
        </p:txBody>
      </p:sp>
      <p:sp>
        <p:nvSpPr>
          <p:cNvPr id="33" name="marker 5"/>
          <p:cNvSpPr/>
          <p:nvPr/>
        </p:nvSpPr>
        <p:spPr>
          <a:xfrm>
            <a:off x="8458200" y="488289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458200" y="4882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869680" y="489204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视频主视觉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8869680" y="5184648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用行驶中的车做首屏视频。当前车型是参考素材，正式版需换成 MAXUS 实拍。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全球板块 1/3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地球自转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 GLOBAL · STAGE 1</a:t>
            </a:r>
            <a:endParaRPr lang="en-US" sz="900" dirty="0"/>
          </a:p>
        </p:txBody>
      </p:sp>
      <p:pic>
        <p:nvPicPr>
          <p:cNvPr id="5" name="globe0.jpg" descr="/home/user/Claude/deck/img/globe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498080" cy="42176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7498080" cy="4217670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2598420" y="31796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98420" y="31796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5293042" y="251574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293042" y="25157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3926205" y="3257741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205" y="325774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4394835" y="522989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94835" y="52298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1"/>
          <p:cNvSpPr/>
          <p:nvPr/>
        </p:nvSpPr>
        <p:spPr>
          <a:xfrm>
            <a:off x="8458200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5820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148132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标题压在地球上 · H1 56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1773936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标题直接叠在地球上，一眼看出这一屏讲的是全球布局。</a:t>
            </a:r>
            <a:endParaRPr lang="en-US" sz="1100" dirty="0"/>
          </a:p>
        </p:txBody>
      </p:sp>
      <p:sp>
        <p:nvSpPr>
          <p:cNvPr id="19" name="marker 2"/>
          <p:cNvSpPr/>
          <p:nvPr/>
        </p:nvSpPr>
        <p:spPr>
          <a:xfrm>
            <a:off x="8458200" y="22311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58200" y="2231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869680" y="224028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点阵地球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532888"/>
            <a:ext cx="277337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陆地用细点阵表现，呼应新 Logo 细线条的风格。蓝绿色只用在地球上，不用在按钮等界面元素。</a:t>
            </a:r>
            <a:endParaRPr lang="en-US" sz="1100" dirty="0"/>
          </a:p>
        </p:txBody>
      </p:sp>
      <p:sp>
        <p:nvSpPr>
          <p:cNvPr id="23" name="marker 3"/>
          <p:cNvSpPr/>
          <p:nvPr/>
        </p:nvSpPr>
        <p:spPr>
          <a:xfrm>
            <a:off x="8458200" y="317754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582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869680" y="3186684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方框定位标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69680" y="3479292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方框样式的定位点，和全站图标风格一致。</a:t>
            </a:r>
            <a:endParaRPr lang="en-US" sz="1100" dirty="0"/>
          </a:p>
        </p:txBody>
      </p:sp>
      <p:sp>
        <p:nvSpPr>
          <p:cNvPr id="27" name="marker 4"/>
          <p:cNvSpPr/>
          <p:nvPr/>
        </p:nvSpPr>
        <p:spPr>
          <a:xfrm>
            <a:off x="8458200" y="383590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835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8869680" y="3845052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LOCATING YOUR MARKET … · Mono 14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0" y="4137660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进入时后台按 IP 识别国家，这行小字提示正在定位。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全球板块 2/3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定位到用户所在国家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 GLOBAL · STAGE 2</a:t>
            </a:r>
            <a:endParaRPr lang="en-US" sz="900" dirty="0"/>
          </a:p>
        </p:txBody>
      </p:sp>
      <p:pic>
        <p:nvPicPr>
          <p:cNvPr id="5" name="globeA.jpg" descr="/home/user/Claude/deck/img/globe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498080" cy="42176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7498080" cy="4217670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3809047" y="416375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809047" y="416375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1075373" y="228142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75373" y="22814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2832735" y="384352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32735" y="3843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1348740" y="399973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48740" y="399973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1"/>
          <p:cNvSpPr/>
          <p:nvPr/>
        </p:nvSpPr>
        <p:spPr>
          <a:xfrm>
            <a:off x="8458200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5820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148132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定位光环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1773936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地球转到用户所在国家（示例为英国）后停住，两圈细光环标出位置。</a:t>
            </a:r>
            <a:endParaRPr lang="en-US" sz="1100" dirty="0"/>
          </a:p>
        </p:txBody>
      </p:sp>
      <p:sp>
        <p:nvSpPr>
          <p:cNvPr id="19" name="marker 2"/>
          <p:cNvSpPr/>
          <p:nvPr/>
        </p:nvSpPr>
        <p:spPr>
          <a:xfrm>
            <a:off x="8458200" y="22311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58200" y="2231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869680" y="224028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 张本地实景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532888"/>
            <a:ext cx="2773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展示该国家的用车场景：配送、木工、花店、接送。对应 9/24 会议提出的 Global Brand, Local Action。</a:t>
            </a:r>
            <a:endParaRPr lang="en-US" sz="1100" dirty="0"/>
          </a:p>
        </p:txBody>
      </p:sp>
      <p:sp>
        <p:nvSpPr>
          <p:cNvPr id="23" name="marker 3"/>
          <p:cNvSpPr/>
          <p:nvPr/>
        </p:nvSpPr>
        <p:spPr>
          <a:xfrm>
            <a:off x="8458200" y="336499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58200" y="3364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869680" y="3374136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细引线 · 白 22%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69680" y="3666744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细线把每张照片连回定位点，说明这些场景都在用户所在的国家。</a:t>
            </a:r>
            <a:endParaRPr lang="en-US" sz="1100" dirty="0"/>
          </a:p>
        </p:txBody>
      </p:sp>
      <p:sp>
        <p:nvSpPr>
          <p:cNvPr id="27" name="marker 4"/>
          <p:cNvSpPr/>
          <p:nvPr/>
        </p:nvSpPr>
        <p:spPr>
          <a:xfrm>
            <a:off x="8458200" y="412394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4123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8869680" y="413308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地点标注 · Mono 14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0" y="4425696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只标城市名，不放大段文字。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全球板块 3/3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出现三组数据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 GLOBAL · STAGE 3</a:t>
            </a:r>
            <a:endParaRPr lang="en-US" sz="900" dirty="0"/>
          </a:p>
        </p:txBody>
      </p:sp>
      <p:pic>
        <p:nvPicPr>
          <p:cNvPr id="5" name="globeB.jpg" descr="/home/user/Claude/deck/img/globe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498080" cy="42176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7498080" cy="4217670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1348740" y="470268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48740" y="470268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3516154" y="470268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16154" y="470268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4160520" y="384352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60520" y="3843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4394835" y="351158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94835" y="351158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1"/>
          <p:cNvSpPr/>
          <p:nvPr/>
        </p:nvSpPr>
        <p:spPr>
          <a:xfrm>
            <a:off x="8458200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5820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148132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 · Geist Light 96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1773936"/>
            <a:ext cx="277337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1896、100+、1.2M+。这是品牌最有说服力的信息，所以用全页最大字号；细体避免显得笨重。</a:t>
            </a:r>
            <a:endParaRPr lang="en-US" sz="1100" dirty="0"/>
          </a:p>
        </p:txBody>
      </p:sp>
      <p:sp>
        <p:nvSpPr>
          <p:cNvPr id="19" name="marker 2"/>
          <p:cNvSpPr/>
          <p:nvPr/>
        </p:nvSpPr>
        <p:spPr>
          <a:xfrm>
            <a:off x="8458200" y="241858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58200" y="24185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869680" y="2427732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1px 竖分隔 · 白 16%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720340"/>
            <a:ext cx="277337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没有用磨砂底板，因为底板会把地球切断。数字直接放在深色背景上，只用细竖线分隔。</a:t>
            </a:r>
            <a:endParaRPr lang="en-US" sz="1100" dirty="0"/>
          </a:p>
        </p:txBody>
      </p:sp>
      <p:sp>
        <p:nvSpPr>
          <p:cNvPr id="23" name="marker 3"/>
          <p:cNvSpPr/>
          <p:nvPr/>
        </p:nvSpPr>
        <p:spPr>
          <a:xfrm>
            <a:off x="8458200" y="336499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58200" y="3364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869680" y="3374136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地球下沉渐隐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69680" y="3666744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地球下半部逐渐变暗，数字更清楚。</a:t>
            </a:r>
            <a:endParaRPr lang="en-US" sz="1100" dirty="0"/>
          </a:p>
        </p:txBody>
      </p:sp>
      <p:sp>
        <p:nvSpPr>
          <p:cNvPr id="27" name="marker 4"/>
          <p:cNvSpPr/>
          <p:nvPr/>
        </p:nvSpPr>
        <p:spPr>
          <a:xfrm>
            <a:off x="8458200" y="402336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8869680" y="4032504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定位保留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0" y="4325112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保留用户所在国家的定位，前后两段画面衔接得上。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车型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按车系展示，不放配置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 VEHICLES</a:t>
            </a:r>
            <a:endParaRPr lang="en-US" sz="900" dirty="0"/>
          </a:p>
        </p:txBody>
      </p:sp>
      <p:pic>
        <p:nvPicPr>
          <p:cNvPr id="5" name="vehicles.jpg" descr="/home/user/Claude/deck/img/vehicl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244862" cy="4709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7244862" cy="4709160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4033911" y="202337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033911" y="2023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864284" y="270258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4284" y="27025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2675499" y="285351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75499" y="28535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1392555" y="3291225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92555" y="32912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5"/>
          <p:cNvSpPr/>
          <p:nvPr/>
        </p:nvSpPr>
        <p:spPr>
          <a:xfrm>
            <a:off x="637882" y="4083631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7882" y="40836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000" dirty="0"/>
          </a:p>
        </p:txBody>
      </p:sp>
      <p:sp>
        <p:nvSpPr>
          <p:cNvPr id="17" name="marker 1"/>
          <p:cNvSpPr/>
          <p:nvPr/>
        </p:nvSpPr>
        <p:spPr>
          <a:xfrm>
            <a:off x="8204982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04982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616462" y="1481328"/>
            <a:ext cx="30265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巨幅 MAXUS 字标 · 浅灰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616462" y="1773936"/>
            <a:ext cx="302659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浅灰色的大字标做背景，八个车系都在 MAXUS 这个名字下，又不抢车的画面。</a:t>
            </a:r>
            <a:endParaRPr lang="en-US" sz="1100" dirty="0"/>
          </a:p>
        </p:txBody>
      </p:sp>
      <p:sp>
        <p:nvSpPr>
          <p:cNvPr id="21" name="marker 2"/>
          <p:cNvSpPr/>
          <p:nvPr/>
        </p:nvSpPr>
        <p:spPr>
          <a:xfrm>
            <a:off x="8204982" y="219456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04982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616462" y="2203704"/>
            <a:ext cx="30265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选中态 · 墨色 + 2px 下划线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616462" y="2496312"/>
            <a:ext cx="30265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选中的车系用黑字加下划线，悬停时变蓝。</a:t>
            </a:r>
            <a:endParaRPr lang="en-US" sz="1100" dirty="0"/>
          </a:p>
        </p:txBody>
      </p:sp>
      <p:sp>
        <p:nvSpPr>
          <p:cNvPr id="25" name="marker 3"/>
          <p:cNvSpPr/>
          <p:nvPr/>
        </p:nvSpPr>
        <p:spPr>
          <a:xfrm>
            <a:off x="8204982" y="281635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04982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616462" y="2825496"/>
            <a:ext cx="30265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八大家族等宽排列 · Nav 18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616462" y="3118104"/>
            <a:ext cx="302659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品牌方案的七大车系加改装车，重卡单独列出，一眼看到完整产品线。</a:t>
            </a:r>
            <a:endParaRPr lang="en-US" sz="1100" dirty="0"/>
          </a:p>
        </p:txBody>
      </p:sp>
      <p:sp>
        <p:nvSpPr>
          <p:cNvPr id="29" name="marker 4"/>
          <p:cNvSpPr/>
          <p:nvPr/>
        </p:nvSpPr>
        <p:spPr>
          <a:xfrm>
            <a:off x="8204982" y="353872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204982" y="3538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8616462" y="3547872"/>
            <a:ext cx="30265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车型小图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616462" y="3840480"/>
            <a:ext cx="30265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切换车系时同步切换，方便识别车型。</a:t>
            </a:r>
            <a:endParaRPr lang="en-US" sz="1100" dirty="0"/>
          </a:p>
        </p:txBody>
      </p:sp>
      <p:sp>
        <p:nvSpPr>
          <p:cNvPr id="33" name="marker 5"/>
          <p:cNvSpPr/>
          <p:nvPr/>
        </p:nvSpPr>
        <p:spPr>
          <a:xfrm>
            <a:off x="8204982" y="416052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04982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616462" y="4169664"/>
            <a:ext cx="30265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车型名 H2 44 + 描述 Body M 20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8616462" y="4462272"/>
            <a:ext cx="302659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只写一句用途，不放参数和配置表（9/29 会议结论）。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科技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沿用第一版的三张视频卡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  TECHNOLOGY</a:t>
            </a:r>
            <a:endParaRPr lang="en-US" sz="900" dirty="0"/>
          </a:p>
        </p:txBody>
      </p:sp>
      <p:pic>
        <p:nvPicPr>
          <p:cNvPr id="5" name="tech.jpg" descr="/home/user/Claude/deck/img/te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498080" cy="42723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7498080" cy="4272344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645795" y="1539431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5795" y="15394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6659880" y="3101531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59880" y="31015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1973580" y="376542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973580" y="376542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1895475" y="480031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895475" y="48003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1"/>
          <p:cNvSpPr/>
          <p:nvPr/>
        </p:nvSpPr>
        <p:spPr>
          <a:xfrm>
            <a:off x="8458200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5820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148132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标题 · H1 56 两行左对齐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1773936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标题讲技术对用户的用处，不讲参数。</a:t>
            </a:r>
            <a:endParaRPr lang="en-US" sz="1100" dirty="0"/>
          </a:p>
        </p:txBody>
      </p:sp>
      <p:sp>
        <p:nvSpPr>
          <p:cNvPr id="19" name="marker 2"/>
          <p:cNvSpPr/>
          <p:nvPr/>
        </p:nvSpPr>
        <p:spPr>
          <a:xfrm>
            <a:off x="8458200" y="213055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58200" y="2130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869680" y="2139696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三张等大视频卡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432304"/>
            <a:ext cx="277337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智能驾驶、动力方案、安全各一张卡，用视频展示实际场景。会议要求技术内容少用术语、多用场景。</a:t>
            </a:r>
            <a:endParaRPr lang="en-US" sz="1100" dirty="0"/>
          </a:p>
        </p:txBody>
      </p:sp>
      <p:sp>
        <p:nvSpPr>
          <p:cNvPr id="23" name="marker 3"/>
          <p:cNvSpPr/>
          <p:nvPr/>
        </p:nvSpPr>
        <p:spPr>
          <a:xfrm>
            <a:off x="8458200" y="307695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58200" y="30769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869680" y="308610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磨砂播放按钮 · 72px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69680" y="3378708"/>
            <a:ext cx="277337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半透明磨砂底加白色细描边，质感更好，又不会太科技风。悬停时描边变蓝。</a:t>
            </a:r>
            <a:endParaRPr lang="en-US" sz="1100" dirty="0"/>
          </a:p>
        </p:txBody>
      </p:sp>
      <p:sp>
        <p:nvSpPr>
          <p:cNvPr id="27" name="marker 4"/>
          <p:cNvSpPr/>
          <p:nvPr/>
        </p:nvSpPr>
        <p:spPr>
          <a:xfrm>
            <a:off x="8458200" y="383590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835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8869680" y="3845052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卡片名 · H4 24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0" y="41376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放在卡片左下角，和板块标题左对齐。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电驱与越野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整屏大图，文字放左下角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05–06  ENGINEERING CHAPTERS</a:t>
            </a:r>
            <a:endParaRPr lang="en-US" sz="900" dirty="0"/>
          </a:p>
        </p:txBody>
      </p:sp>
      <p:pic>
        <p:nvPicPr>
          <p:cNvPr id="5" name="electric.jpg" descr="/home/user/Claude/deck/img/electr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5440680" cy="306038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5440680" cy="3060383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538996" y="3186065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8996" y="318606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538996" y="361111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8996" y="36111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538996" y="3979497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38996" y="39794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pic>
        <p:nvPicPr>
          <p:cNvPr id="13" name="offroad.jpg" descr="/home/user/Claude/deck/img/offro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481328"/>
            <a:ext cx="5440680" cy="3060383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199632" y="1481328"/>
            <a:ext cx="5440680" cy="3060383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15" name="marker 4"/>
          <p:cNvSpPr/>
          <p:nvPr/>
        </p:nvSpPr>
        <p:spPr>
          <a:xfrm>
            <a:off x="10313003" y="247764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313003" y="24776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marker 1"/>
          <p:cNvSpPr/>
          <p:nvPr/>
        </p:nvSpPr>
        <p:spPr>
          <a:xfrm>
            <a:off x="548640" y="47457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4745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4754880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标题 · H1 56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5047488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和其他板块标题同一字号。</a:t>
            </a:r>
            <a:endParaRPr lang="en-US" sz="1100" dirty="0"/>
          </a:p>
        </p:txBody>
      </p:sp>
      <p:sp>
        <p:nvSpPr>
          <p:cNvPr id="21" name="marker 2"/>
          <p:cNvSpPr/>
          <p:nvPr/>
        </p:nvSpPr>
        <p:spPr>
          <a:xfrm>
            <a:off x="3390824" y="47457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390824" y="4745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3802304" y="4754880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正文 · Body M 20，宽 620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3802304" y="5047488"/>
            <a:ext cx="215638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三行以内，说清这项技术解决什么问题。</a:t>
            </a:r>
            <a:endParaRPr lang="en-US" sz="1100" dirty="0"/>
          </a:p>
        </p:txBody>
      </p:sp>
      <p:sp>
        <p:nvSpPr>
          <p:cNvPr id="25" name="marker 3"/>
          <p:cNvSpPr/>
          <p:nvPr/>
        </p:nvSpPr>
        <p:spPr>
          <a:xfrm>
            <a:off x="6233008" y="47457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233008" y="4745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644488" y="4754880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文字链接 + 箭头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6644488" y="5047488"/>
            <a:ext cx="2156384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按客户要求减少首页按钮，改成文字链接；稍粗的字重提示可以点击。</a:t>
            </a:r>
            <a:endParaRPr lang="en-US" sz="1100" dirty="0"/>
          </a:p>
        </p:txBody>
      </p:sp>
      <p:sp>
        <p:nvSpPr>
          <p:cNvPr id="29" name="marker 4"/>
          <p:cNvSpPr/>
          <p:nvPr/>
        </p:nvSpPr>
        <p:spPr>
          <a:xfrm>
            <a:off x="9075191" y="47457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75191" y="4745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9486671" y="4754880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画面压暗只在左下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9486671" y="5047488"/>
            <a:ext cx="2156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只在左下角加暗色渐变，保证文字看得清，画面其他部分保持原样。文字距左 120、距底 140。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News &amp; Insights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沿用第一版结构，统一细节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07  NEWS &amp; INSIGHTS</a:t>
            </a:r>
            <a:endParaRPr lang="en-US" sz="900" dirty="0"/>
          </a:p>
        </p:txBody>
      </p:sp>
      <p:pic>
        <p:nvPicPr>
          <p:cNvPr id="5" name="news.jpg" descr="/home/user/Claude/deck/img/new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309551" cy="4709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6309551" cy="4709160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542929" y="190282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2929" y="19028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542929" y="236289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2929" y="23628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2514664" y="219858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14664" y="2198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2054592" y="3407917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54592" y="340791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5"/>
          <p:cNvSpPr/>
          <p:nvPr/>
        </p:nvSpPr>
        <p:spPr>
          <a:xfrm>
            <a:off x="2054592" y="3578801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54592" y="35788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000" dirty="0"/>
          </a:p>
        </p:txBody>
      </p:sp>
      <p:sp>
        <p:nvSpPr>
          <p:cNvPr id="17" name="marker 1"/>
          <p:cNvSpPr/>
          <p:nvPr/>
        </p:nvSpPr>
        <p:spPr>
          <a:xfrm>
            <a:off x="7269671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69671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7681151" y="1481328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标题 · H1 56，栏宽 400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681151" y="1773936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左边放标题，右边 2×2 四篇文章，结构和第一版一致。</a:t>
            </a:r>
            <a:endParaRPr lang="en-US" sz="1100" dirty="0"/>
          </a:p>
        </p:txBody>
      </p:sp>
      <p:sp>
        <p:nvSpPr>
          <p:cNvPr id="21" name="marker 2"/>
          <p:cNvSpPr/>
          <p:nvPr/>
        </p:nvSpPr>
        <p:spPr>
          <a:xfrm>
            <a:off x="7269671" y="20939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9671" y="2093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681151" y="2103120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 all stories → · Button 16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681151" y="2395728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原来是蓝色粗体，改成和全站一致的黑色文字链接。</a:t>
            </a:r>
            <a:endParaRPr lang="en-US" sz="1100" dirty="0"/>
          </a:p>
        </p:txBody>
      </p:sp>
      <p:sp>
        <p:nvSpPr>
          <p:cNvPr id="25" name="marker 3"/>
          <p:cNvSpPr/>
          <p:nvPr/>
        </p:nvSpPr>
        <p:spPr>
          <a:xfrm>
            <a:off x="7269671" y="271576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269671" y="2715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681151" y="2724912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分类标签 · 烟熏磨砂 + Mono 大写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681151" y="3017520"/>
            <a:ext cx="396190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Brand News、Country News、Brand Information，对应会议确定的三类内容。</a:t>
            </a:r>
            <a:endParaRPr lang="en-US" sz="1100" dirty="0"/>
          </a:p>
        </p:txBody>
      </p:sp>
      <p:sp>
        <p:nvSpPr>
          <p:cNvPr id="29" name="marker 4"/>
          <p:cNvSpPr/>
          <p:nvPr/>
        </p:nvSpPr>
        <p:spPr>
          <a:xfrm>
            <a:off x="7269671" y="343814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269671" y="3438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681151" y="3447288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 · Data Mono 14 灰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681151" y="3739896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日期用灰色小字，不抢标题。</a:t>
            </a:r>
            <a:endParaRPr lang="en-US" sz="1100" dirty="0"/>
          </a:p>
        </p:txBody>
      </p:sp>
      <p:sp>
        <p:nvSpPr>
          <p:cNvPr id="33" name="marker 5"/>
          <p:cNvSpPr/>
          <p:nvPr/>
        </p:nvSpPr>
        <p:spPr>
          <a:xfrm>
            <a:off x="7269671" y="405993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269671" y="4059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681151" y="4069080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文章标题 · H4 24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681151" y="4361688"/>
            <a:ext cx="3961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悬停时标题变蓝、图片轻微放大。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订阅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首页唯一保留的实心按钮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08  SUBSCRIBE</a:t>
            </a:r>
            <a:endParaRPr lang="en-US" sz="900" dirty="0"/>
          </a:p>
        </p:txBody>
      </p:sp>
      <p:pic>
        <p:nvPicPr>
          <p:cNvPr id="5" name="subscribe.jpg" descr="/home/user/Claude/deck/img/subscrib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7498080" cy="3749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7498080" cy="3749040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3379470" y="2008061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79470" y="200806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1973580" y="251574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73580" y="25157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2949893" y="436683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49893" y="4366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5332095" y="436683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32095" y="4366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5"/>
          <p:cNvSpPr/>
          <p:nvPr/>
        </p:nvSpPr>
        <p:spPr>
          <a:xfrm>
            <a:off x="2949893" y="466363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49893" y="466363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000" dirty="0"/>
          </a:p>
        </p:txBody>
      </p:sp>
      <p:sp>
        <p:nvSpPr>
          <p:cNvPr id="17" name="marker 1"/>
          <p:cNvSpPr/>
          <p:nvPr/>
        </p:nvSpPr>
        <p:spPr>
          <a:xfrm>
            <a:off x="8458200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5820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0" y="148132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Keep up with · H2 44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869680" y="1773936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订阅区的引导语。</a:t>
            </a:r>
            <a:endParaRPr lang="en-US" sz="1100" dirty="0"/>
          </a:p>
        </p:txBody>
      </p:sp>
      <p:sp>
        <p:nvSpPr>
          <p:cNvPr id="21" name="marker 2"/>
          <p:cNvSpPr/>
          <p:nvPr/>
        </p:nvSpPr>
        <p:spPr>
          <a:xfrm>
            <a:off x="8458200" y="209397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458200" y="2093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869680" y="21031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MAXUS 字标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869680" y="2395728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页面结尾放大号字标，加深品牌印象。</a:t>
            </a:r>
            <a:endParaRPr lang="en-US" sz="1100" dirty="0"/>
          </a:p>
        </p:txBody>
      </p:sp>
      <p:sp>
        <p:nvSpPr>
          <p:cNvPr id="25" name="marker 3"/>
          <p:cNvSpPr/>
          <p:nvPr/>
        </p:nvSpPr>
        <p:spPr>
          <a:xfrm>
            <a:off x="8458200" y="271576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2715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869680" y="2724912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白色输入框 · 64px 高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869680" y="3017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白色输入框在任何背景图上都清楚。</a:t>
            </a:r>
            <a:endParaRPr lang="en-US" sz="1100" dirty="0"/>
          </a:p>
        </p:txBody>
      </p:sp>
      <p:sp>
        <p:nvSpPr>
          <p:cNvPr id="29" name="marker 4"/>
          <p:cNvSpPr/>
          <p:nvPr/>
        </p:nvSpPr>
        <p:spPr>
          <a:xfrm>
            <a:off x="8458200" y="3337560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45820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8869680" y="3346704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黑底 Subscribe →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869680" y="3639312"/>
            <a:ext cx="2773375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首页其他按钮都改成了文字链接，订阅是唯一需要用户留信息的地方，所以保留实心按钮。</a:t>
            </a:r>
            <a:endParaRPr lang="en-US" sz="1100" dirty="0"/>
          </a:p>
        </p:txBody>
      </p:sp>
      <p:sp>
        <p:nvSpPr>
          <p:cNvPr id="33" name="marker 5"/>
          <p:cNvSpPr/>
          <p:nvPr/>
        </p:nvSpPr>
        <p:spPr>
          <a:xfrm>
            <a:off x="8458200" y="424738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458200" y="42473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869680" y="4256532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同意条款 · 14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8869680" y="454914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合规需要的同意条款，用 14px。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页脚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只放直达链接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09  FOOTER</a:t>
            </a:r>
            <a:endParaRPr lang="en-US" sz="900" dirty="0"/>
          </a:p>
        </p:txBody>
      </p:sp>
      <p:pic>
        <p:nvPicPr>
          <p:cNvPr id="5" name="footer.jpg" descr="/home/user/Claude/deck/img/foo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949440" cy="25336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6949440" cy="2533650"/>
          </a:xfrm>
          <a:prstGeom prst="rect">
            <a:avLst/>
          </a:prstGeom>
          <a:ln w="9525">
            <a:solidFill>
              <a:srgbClr val="3A3B41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845820" y="1760411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5820" y="17604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ker 2"/>
          <p:cNvSpPr/>
          <p:nvPr/>
        </p:nvSpPr>
        <p:spPr>
          <a:xfrm>
            <a:off x="5189220" y="188709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89220" y="18870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ker 3"/>
          <p:cNvSpPr/>
          <p:nvPr/>
        </p:nvSpPr>
        <p:spPr>
          <a:xfrm>
            <a:off x="845820" y="228523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5820" y="228523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marker 4"/>
          <p:cNvSpPr/>
          <p:nvPr/>
        </p:nvSpPr>
        <p:spPr>
          <a:xfrm>
            <a:off x="5189220" y="2466213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89220" y="246621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marker 5"/>
          <p:cNvSpPr/>
          <p:nvPr/>
        </p:nvSpPr>
        <p:spPr>
          <a:xfrm>
            <a:off x="6202680" y="3678746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02680" y="367874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000" dirty="0"/>
          </a:p>
        </p:txBody>
      </p:sp>
      <p:sp>
        <p:nvSpPr>
          <p:cNvPr id="17" name="marker 1"/>
          <p:cNvSpPr/>
          <p:nvPr/>
        </p:nvSpPr>
        <p:spPr>
          <a:xfrm>
            <a:off x="7909560" y="147218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0956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1481328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Logo · 横版白色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1773936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深色背景用白色横版 Logo，符合品牌规范。</a:t>
            </a:r>
            <a:endParaRPr lang="en-US" sz="1100" dirty="0"/>
          </a:p>
        </p:txBody>
      </p:sp>
      <p:sp>
        <p:nvSpPr>
          <p:cNvPr id="21" name="marker 2"/>
          <p:cNvSpPr/>
          <p:nvPr/>
        </p:nvSpPr>
        <p:spPr>
          <a:xfrm>
            <a:off x="7909560" y="2112264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909560" y="2112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2121408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Newsletter · 下划线输入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321040" y="2414016"/>
            <a:ext cx="332201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页脚也能订阅，但用简单的下划线输入框，不和上面的订阅区重复。</a:t>
            </a:r>
            <a:endParaRPr lang="en-US" sz="1100" dirty="0"/>
          </a:p>
        </p:txBody>
      </p:sp>
      <p:sp>
        <p:nvSpPr>
          <p:cNvPr id="25" name="marker 3"/>
          <p:cNvSpPr/>
          <p:nvPr/>
        </p:nvSpPr>
        <p:spPr>
          <a:xfrm>
            <a:off x="7909560" y="2852928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2852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321040" y="286207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四栏标签 · Mono 大写 + 链接 18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321040" y="3154680"/>
            <a:ext cx="332201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 9/29 会议结论，页脚只放直达链接，分成四组。</a:t>
            </a:r>
            <a:endParaRPr lang="en-US" sz="1100" dirty="0"/>
          </a:p>
        </p:txBody>
      </p:sp>
      <p:sp>
        <p:nvSpPr>
          <p:cNvPr id="29" name="marker 4"/>
          <p:cNvSpPr/>
          <p:nvPr/>
        </p:nvSpPr>
        <p:spPr>
          <a:xfrm>
            <a:off x="7909560" y="359359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909560" y="3593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3602736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社媒 · 44px 细描边圆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321040" y="3895344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统一的线性图标，悬停时描边变蓝。</a:t>
            </a:r>
            <a:endParaRPr lang="en-US" sz="1100" dirty="0"/>
          </a:p>
        </p:txBody>
      </p:sp>
      <p:sp>
        <p:nvSpPr>
          <p:cNvPr id="33" name="marker 5"/>
          <p:cNvSpPr/>
          <p:nvPr/>
        </p:nvSpPr>
        <p:spPr>
          <a:xfrm>
            <a:off x="7909560" y="4233672"/>
            <a:ext cx="274320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A0A0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909560" y="4233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321040" y="4242816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Choose Your Market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8321040" y="4535424"/>
            <a:ext cx="332201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跳转到各国站点。全球站负责品牌展示，价格和配置在国家站。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全球板块动效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分三段随滚动播放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MOTION</a:t>
            </a:r>
            <a:endParaRPr lang="en-US" sz="900" dirty="0"/>
          </a:p>
        </p:txBody>
      </p:sp>
      <p:pic>
        <p:nvPicPr>
          <p:cNvPr id="5" name="Image 0" descr="/home/user/Claude/deck/img/globe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3515258" cy="197733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082186" y="2360266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68973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 地球自转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034733"/>
            <a:ext cx="3515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进入板块：地球约 20 秒一圈缓慢自转；后台按 IP 识别国家。</a:t>
            </a:r>
            <a:endParaRPr lang="en-US" sz="1150" dirty="0"/>
          </a:p>
        </p:txBody>
      </p:sp>
      <p:pic>
        <p:nvPicPr>
          <p:cNvPr id="9" name="Image 1" descr="/home/user/Claude/deck/img/globe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8218" y="1554480"/>
            <a:ext cx="3515258" cy="197733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71765" y="2360266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338218" y="3668973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 停在用户所在国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338218" y="4034733"/>
            <a:ext cx="3515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滚动 0–40%：地球减速转到用户所在国（1.2s），光环出现；4 张本地照片依次浮出（间隔 120ms），引线画出。</a:t>
            </a:r>
            <a:endParaRPr lang="en-US" sz="1150" dirty="0"/>
          </a:p>
        </p:txBody>
      </p:sp>
      <p:pic>
        <p:nvPicPr>
          <p:cNvPr id="13" name="Image 2" descr="/home/user/Claude/deck/img/globeB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7797" y="1554480"/>
            <a:ext cx="3515258" cy="197733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127797" y="3668973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 数据出现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8127797" y="4034733"/>
            <a:ext cx="3515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滚动 60–80%：照片淡出，地球上移下沉；数字滚到位后计数一次（1.4s），随后进入车型屏。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534924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48640" y="54864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已有可在浏览器直接运行的 HTML 原型（maxus-global-local.html），开发可直接参考；动画跟随滚动，可倒放。IP 识别失败时默认展示 Europe / United Kingdom。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客户可能会问的问题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 &amp; 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691640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标题为什么不加粗？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011680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Michroma 只有 Regular；宽体字视觉重量已足；新标识方向是“线条细锐”。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78728" y="1508760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7328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964528" y="1691640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导航为什么是 18？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964528" y="2011680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最常用的工具，大屏上 16 偏小；18 清楚又不抢视频，所以不加粗。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79192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862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2862072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正文为什么统一 20？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82112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1920 屏、60–70cm 观看距离下最舒适；150% 行高给足呼吸。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78728" y="2679192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07328" y="2862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964528" y="2862072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为什么不用我们的蓝色？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964528" y="3182112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方案定黑白为核心、蓝为“一抹”；蓝色只在 Hover 时亮起，代表电动能量。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849624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4032504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为什么按钮这么少、只是文字？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4352544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首页负责品牌形象，不堆 CTA；只有订阅保留实心按钮。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78728" y="3849624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07328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964528" y="4032504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数字为什么这么大？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964528" y="4352544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数据是信任证据；Light 字重让它大而不重。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020056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02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1234440" y="5202936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会不会像 Rivian / 别家？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234440" y="5522976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借鉴的是高端品牌的克制方法；字体、口号、地球、1896 叙事都是 MAXUS 独有。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78728" y="5020056"/>
            <a:ext cx="5364328" cy="1024128"/>
          </a:xfrm>
          <a:prstGeom prst="rect">
            <a:avLst/>
          </a:prstGeom>
          <a:solidFill>
            <a:srgbClr val="222328"/>
          </a:solidFill>
          <a:ln w="6350">
            <a:solidFill>
              <a:srgbClr val="2C2D3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07328" y="5202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E9BF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6964528" y="5202936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图片和视频能直接用吗？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964528" y="5522976"/>
            <a:ext cx="444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3A7A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部分为 AI 示意图，首屏视频车型也需替换为 MAXUS 实拍。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待确认</a:t>
            </a:r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上线前需要贵司提供的内容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72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首屏视频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160020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当前车型为参考素材，需提供 MAXUS 实拍视频。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4505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468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本地实景照片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2496312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按国家提供 3–4 张真实用车场景，由 CMS 按 IP 配置。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63824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467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3649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国家站名单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3392424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地球定位与 Choose Your Market 需要实际国家站列表。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059936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2428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2611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数据口径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206240" y="4288536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1.2M+ 客户数请确认出处；1896 / 100+ 依据品牌方案。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956048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1389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A8F9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1572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移动端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206240" y="5184648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C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确认桌面版后，按同一套规范输出移动端（字号已预留 Mobile 样式）。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585216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F9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img/mark_gr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822960"/>
            <a:ext cx="6949440" cy="4787392"/>
          </a:xfrm>
          <a:prstGeom prst="rect">
            <a:avLst/>
          </a:prstGeom>
        </p:spPr>
      </p:pic>
      <p:pic>
        <p:nvPicPr>
          <p:cNvPr id="3" name="Image 1" descr="/home/user/Claude/deck/img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737360" cy="39090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737360"/>
            <a:ext cx="7315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DRIVE THE</a:t>
            </a:r>
            <a:endParaRPr lang="en-US" sz="7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200" b="1" dirty="0">
                <a:solidFill>
                  <a:srgbClr val="3D6B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CHARGE</a:t>
            </a:r>
            <a:endParaRPr lang="en-US" sz="7200" dirty="0"/>
          </a:p>
        </p:txBody>
      </p:sp>
      <p:sp>
        <p:nvSpPr>
          <p:cNvPr id="5" name="Shape 1"/>
          <p:cNvSpPr/>
          <p:nvPr/>
        </p:nvSpPr>
        <p:spPr>
          <a:xfrm>
            <a:off x="548640" y="4069080"/>
            <a:ext cx="11094415" cy="0"/>
          </a:xfrm>
          <a:prstGeom prst="line">
            <a:avLst/>
          </a:prstGeom>
          <a:noFill/>
          <a:ln w="9525">
            <a:solidFill>
              <a:srgbClr val="3A3B41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187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驭电先行  ·  THANK YOU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XUS Homepage UI">
  <a:themeElements>
    <a:clrScheme name="MAXUS Homepage UI">
      <a:dk1>
        <a:srgbClr val="0A0A0B"/>
      </a:dk1>
      <a:lt1>
        <a:srgbClr val="FFFFFF"/>
      </a:lt1>
      <a:dk2>
        <a:srgbClr val="5A5F68"/>
      </a:dk2>
      <a:lt2>
        <a:srgbClr val="F1F1F0"/>
      </a:lt2>
      <a:accent1>
        <a:srgbClr val="1E5FC8"/>
      </a:accent1>
      <a:accent2>
        <a:srgbClr val="6E9BF0"/>
      </a:accent2>
      <a:accent3>
        <a:srgbClr val="8A8F98"/>
      </a:accent3>
      <a:accent4>
        <a:srgbClr val="070A11"/>
      </a:accent4>
      <a:accent5>
        <a:srgbClr val="1F6BC6"/>
      </a:accent5>
      <a:accent6>
        <a:srgbClr val="61F2AD"/>
      </a:accent6>
      <a:hlink>
        <a:srgbClr val="6E9BF0"/>
      </a:hlink>
      <a:folHlink>
        <a:srgbClr val="8A8F98"/>
      </a:folHlink>
    </a:clrScheme>
    <a:fontScheme name="MAXUS Homepage UI">
      <a:majorFont>
        <a:latin typeface="PingFang SC"/>
        <a:ea typeface="PingFang S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PingFang S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MAXUS 官网首页 Web UI 设计解说</dc:title>
  <dc:subject>PptxGenJS Presentation</dc:subject>
  <dc:creator>MAXUS Web Design</dc:creator>
  <cp:lastModifiedBy>MAXUS Web Design</cp:lastModifiedBy>
  <cp:revision>1</cp:revision>
  <dcterms:created xsi:type="dcterms:W3CDTF">2026-10-09T12:16:25Z</dcterms:created>
  <dcterms:modified xsi:type="dcterms:W3CDTF">2026-10-09T12:16:25Z</dcterms:modified>
</cp:coreProperties>
</file>