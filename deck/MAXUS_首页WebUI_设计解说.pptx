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篇" id="{90ecf7bb-a65c-4fff-72c2-c3783eebbfc7}">
          <p14:sldIdLst>
            <p14:sldId id="256"/>
            <p14:sldId id="257"/>
            <p14:sldId id="258"/>
            <p14:sldId id="259"/>
          </p14:sldIdLst>
        </p14:section>
        <p14:section name="设计系统" id="{e47d3531-6b67-6047-a3b6-c3949f62de5e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逐屏解说" id="{a95fd327-f42d-b6e6-96b0-aaa122160c45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交互与问答" id="{5e4a00b4-266c-a425-3fdd-0e91911d6d66}">
          <p14:sldIdLst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开场：这份文件逐屏讲清首页每个设计决定的原因——为什么用这个字体、这个字号、这个颜色、这个间距，以及每个板块要表达什么品牌信息。所有理由都回到贵司两份材料：《品牌升级方案 v3》和 9/24、9/29 内容架构会议纪要。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客户最认可的一句话是：“这是按你们自己定的方向做的。”所以每一页的理由都标注了出处：品牌方案、会议纪要、受众定位。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品牌方案原话：新标识要“黑白核心色、去装饰化、专业感与国际感更强”；会议要求首页“拉高品牌调性、参考奢侈品官网”。我们因此做了三件事：统一、减法、全球化叙事。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整页按“三幕”组织：我是谁 → 我能做什么 → 保持联系。像一本品牌画册，而不是模块的堆砌。深浅屏交替（深 · 深 · 浅 · 浅 · 深 · 深 · 浅 · 深 · 深），给长页面呼吸节奏。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先讲规则，再讲页面。客户问“为什么这里是这个字号”，答案都在这一章。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为什么三套？一套负责“品牌声音”（Michroma），一套负责“读得舒服”（Geist），一套负责“工程标注”（Geist Mono）。客户喜欢的参考站 Outer Spaces、Lightship、Rivian 都是“一套无衬线 + 一套等宽”，标题不用粗体，靠字号拉开层级。左侧是首页里的实际渲染截图。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客户常问：“标题为什么不用粗体？”——Michroma 只有 Regular；宽体字的视觉重量已足够；新标识方向是“线条细锐”。“为什么首屏标题不再大一点？”——72 已占约 57% 屏宽，再大会与车抢主角，并在 1440 屏折行。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“导航为什么是 18？”——导航是用户最常点的地方。原 16px 在大屏偏小；18 在 1920 与 1440 屏都清楚，又比标题小得多，不会喧宾夺主。用 Regular 而非粗体，压在视频上也安静。“正文为什么 20？”——大屏阅读距离下 20 最舒适，150% 行高给足呼吸。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为什么不用我们的蓝色？”——新品牌方案已把核心色定为黑白，亮蓝是“一抹”点缀，代表电动能量。我们把它用在最能体现“能量”的时刻：用户悬停、聚焦时亮起。深色背景上原色对比度不够，所以深底用浅一档的 #6E9BF0。地球的蓝绿色属于数据可视化，只在地球上出现。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“为什么这里空这么多？”——留白是奢侈品官网的核心手法（会议要求参考）。所有间距用同一把尺子，每一屏呼吸感一致，整页看下来稳；开发也能直接变量化。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悬停只改变颜色，不加底色、不加粗——反馈清楚但克制，不破坏版面。蓝色只在用户触碰时出现，对应品牌方案里“一抹亮蓝＝电动能量”。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接下来逐屏讲。每页左侧截图上的编号，对应右侧的解说。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客户问“导航为什么是 18？”：导航是全站最常用的工具，原 16px 在 1920 大屏上显得小，18 更稳重也更好点；但我们没有加粗，因为它压在首屏视频上，太重会抢画面。参考了会议里提到的奔驰：字体简洁、层级克制。公告栏的箭头不是装饰，而是 Logo“向前、向上”的延伸。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首屏只做三件事：一句主张（Maximize Your Business）、一个画面（行驶中的车）、三句身份（欧洲出身 / 全系产品 / 1896 传承）。信息栏用一根 1px 细线托住，像画册的图注。“为什么标题这么小？”——72 在 1920 屏一行已占约 57% 宽度；更大会与车抢视线。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这一屏回应会议要求“突出 Glocal 与全球布局”。滚动开始前地球缓慢自转（约 20 秒一圈），给用户一个安静的进场。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照片按国家由 CMS 配置，没有配置的国家显示所在大区的通用图。当前为 AI 示意图，上线前换实拍。动效：照片从定位点方向依次放大浮出（0.6→1，间隔 120ms），引线跟着画出。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数字滚到位后只计数一次（1.4 秒，依次间隔 120ms），停在任何位置都显示正确终值。原稿数字用 D-DIN 粗体压在照片上，看不清也挡车；现在改为细的大号数字。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会议结论：首页核心是拉高调性，车型链接“可有可无”，所以车型区只负责让用户知道“我们有这八个家族”。横幅左侧压暗已减轻，墙面质感透出来，车更清楚。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这一版沿用客户已看过的第一版结构（三列视频入口），只在字体、按钮质感上精修，便于过稿。点击卡片打开详情（弹窗已设计）。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电驱与越野是一组“工程能力”章节，用整屏画面讲。文字统一放在左下角同一位置，两屏读起来像画册的两页。按钮从白底黑字改为文字链接，是客户“首页不要太多跳转按钮”的要求。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会议纪要：取消独立 Blog，合并为 News and Insights，分为全球品牌新闻、国家新闻、产品洞察三类。卡片图圆角 4，与按钮同一圆角；页边距按规范统一为 120 / 140。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订阅是首页唯一保留实心样式的按钮：其他入口都是“了解更多”，只有这里是用户主动留下联系方式的转化动作。背景图为 AI 示意，上线前换实拍。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页脚回归常规：好找、松散、清楚，不做花样。“Choose Your Market”是全球站的重要出口：全球站负责形象，国家站负责价格与配置（9/29 会议）。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演示时直接打开 HTML 原型滚动给客户看。三段节奏：安静进场 → 找到“你” → 用数据收尾。数字只计数一次，避免停在中间值。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如果客户坚持使用蓝色：可以只用在一处关键动作上（例如订阅按钮的悬停），不建议做成大面积按钮或底色。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结尾把需要客户提供的素材和确认项列清楚，推动进入下一阶段。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2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F98"/>
                </a:solidFill>
              </a:rPr>
              <a:t>MAXUS  ·  HOMEPAGE WEB UI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9D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5F68"/>
                </a:solidFill>
              </a:rPr>
              <a:t>MAXUS  ·  HOMEPAGE WEB UI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F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image" Target="../media/image-4-8.jpg"/><Relationship Id="rId9" Type="http://schemas.openxmlformats.org/officeDocument/2006/relationships/image" Target="../media/image-4-9.jpg"/><Relationship Id="rId10" Type="http://schemas.openxmlformats.org/officeDocument/2006/relationships/image" Target="../media/image-4-10.jpg"/><Relationship Id="rId11" Type="http://schemas.openxmlformats.org/officeDocument/2006/relationships/image" Target="../media/image-4-11.jp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img/globe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05840"/>
            <a:ext cx="6793992" cy="3821621"/>
          </a:xfrm>
          <a:prstGeom prst="rect">
            <a:avLst/>
          </a:prstGeom>
        </p:spPr>
      </p:pic>
      <p:pic>
        <p:nvPicPr>
          <p:cNvPr id="3" name="Image 1" descr="/home/user/Claude/deck/img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"/>
            <a:ext cx="2011680" cy="4526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 WEB UI  ·  DESIGN RATIONALE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7432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官网首页 Web UI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设计解说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3434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每一个字号、颜色、间距与板块，为什么这样设计，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以及它如何表达 MAXUS 的品牌。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the Charge  ·  驭电先行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206240" y="5989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 /  DESIGN BASIS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所有设计决定，都来自贵司自己的三份依据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4480560"/>
          </a:xfrm>
          <a:prstGeom prst="rect">
            <a:avLst/>
          </a:prstGeom>
          <a:solidFill>
            <a:srgbClr val="121315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品牌升级方案 v3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063240"/>
            <a:ext cx="2875178" cy="0"/>
          </a:xfrm>
          <a:prstGeom prst="line">
            <a:avLst/>
          </a:prstGeom>
          <a:noFill/>
          <a:ln w="9525">
            <a:solidFill>
              <a:srgbClr val="2A2B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200400"/>
            <a:ext cx="28751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口号 Drive the Charge / 驭电先行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黑白核心色：trust · clarity · authority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线条由粗重变细锐，去装饰化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一抹高饱和亮蓝，代表电动能量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European-born · Since 1896 · 100+ 国家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8218" y="1600200"/>
            <a:ext cx="3515258" cy="4480560"/>
          </a:xfrm>
          <a:prstGeom prst="rect">
            <a:avLst/>
          </a:prstGeom>
          <a:solidFill>
            <a:srgbClr val="121315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8258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256032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内容架构会议纪要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58258" y="3063240"/>
            <a:ext cx="2875178" cy="0"/>
          </a:xfrm>
          <a:prstGeom prst="line">
            <a:avLst/>
          </a:prstGeom>
          <a:noFill/>
          <a:ln w="9525">
            <a:solidFill>
              <a:srgbClr val="2A2B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58258" y="3200400"/>
            <a:ext cx="28751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首页目标：拉高品牌调性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参考奢侈品官网，跳出传统车企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首页不放配置表，车型以“家族”呈现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与 Blog 合并为 News &amp; Insights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页脚只做直达链接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7797" y="1600200"/>
            <a:ext cx="3515258" cy="4480560"/>
          </a:xfrm>
          <a:prstGeom prst="rect">
            <a:avLst/>
          </a:prstGeom>
          <a:solidFill>
            <a:srgbClr val="121315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47837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447837" y="256032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受众与风格定位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447837" y="3063240"/>
            <a:ext cx="2875178" cy="0"/>
          </a:xfrm>
          <a:prstGeom prst="line">
            <a:avLst/>
          </a:prstGeom>
          <a:noFill/>
          <a:ln w="9525">
            <a:solidFill>
              <a:srgbClr val="2A2B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47837" y="3200400"/>
            <a:ext cx="28751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受众：车队、司机、工程现场用户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风格是 Professional，不是 Business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参考奔驰：简洁字体 + 按钮悬停反馈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Brand, Local Action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全球站负责形象与拉新，不卖车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 /  PRINCIPLES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一句话：把首页对齐到 ONE MAXUS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3454298" cy="0"/>
          </a:xfrm>
          <a:prstGeom prst="line">
            <a:avLst/>
          </a:prstGeom>
          <a:noFill/>
          <a:ln w="9525">
            <a:solidFill>
              <a:srgbClr val="3A3B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15468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39312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VOICE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69080"/>
            <a:ext cx="34542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字体、颜色、间距、按钮、箭头全部收成一套规范。12 级字号、16 个颜色、8 的倍数间距，全站只有一种声音，各国站拿过去直接复用。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68698" y="1737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4368698" y="2971800"/>
            <a:ext cx="3454298" cy="0"/>
          </a:xfrm>
          <a:prstGeom prst="line">
            <a:avLst/>
          </a:prstGeom>
          <a:noFill/>
          <a:ln w="9525">
            <a:solidFill>
              <a:srgbClr val="3A3B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68698" y="315468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减法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68698" y="3639312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LESS, BUT SHARPER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68698" y="4069080"/>
            <a:ext cx="34542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去掉 UI 里的大面积蓝色和装饰；按钮弱化为“文字 + 箭头”。颜色越克制，车和画面越成为主角——这正是奢侈品官网的方法。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88757" y="1737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15" name="Shape 13"/>
          <p:cNvSpPr/>
          <p:nvPr/>
        </p:nvSpPr>
        <p:spPr>
          <a:xfrm>
            <a:off x="8188757" y="2971800"/>
            <a:ext cx="3454298" cy="0"/>
          </a:xfrm>
          <a:prstGeom prst="line">
            <a:avLst/>
          </a:prstGeom>
          <a:noFill/>
          <a:ln w="9525">
            <a:solidFill>
              <a:srgbClr val="3A3B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8757" y="315468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全球化叙事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188757" y="3639312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→ LOCAL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188757" y="4069080"/>
            <a:ext cx="34542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用地球把“100+ 国家”讲成一个故事：自转 → 停在用户所在国 → 本地实拍 → 数据。Global Brand, Local Action。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 /  PAGE STRUCTURE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 10 屏：从品牌到产品，再到资讯与服务</a:t>
            </a:r>
            <a:endParaRPr lang="en-US" sz="2800" dirty="0"/>
          </a:p>
        </p:txBody>
      </p:sp>
      <p:pic>
        <p:nvPicPr>
          <p:cNvPr id="4" name="Image 0" descr="/home/user/Claude/deck/img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925456" cy="6940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614332"/>
            <a:ext cx="92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42932"/>
            <a:ext cx="92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首屏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35540"/>
            <a:ext cx="92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品牌主张</a:t>
            </a:r>
            <a:endParaRPr lang="en-US" sz="900" dirty="0"/>
          </a:p>
        </p:txBody>
      </p:sp>
      <p:pic>
        <p:nvPicPr>
          <p:cNvPr id="8" name="Image 1" descr="/home/user/Claude/deck/img/globe0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65536" y="1783080"/>
            <a:ext cx="925456" cy="6940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65536" y="2614332"/>
            <a:ext cx="92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565536" y="2842932"/>
            <a:ext cx="92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565536" y="3135540"/>
            <a:ext cx="92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一个品牌</a:t>
            </a:r>
            <a:endParaRPr lang="en-US" sz="900" dirty="0"/>
          </a:p>
        </p:txBody>
      </p:sp>
      <p:pic>
        <p:nvPicPr>
          <p:cNvPr id="12" name="Image 2" descr="/home/user/Claude/deck/img/globe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82432" y="1783080"/>
            <a:ext cx="925456" cy="6940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582432" y="2614332"/>
            <a:ext cx="92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02a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2582432" y="2842932"/>
            <a:ext cx="92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2582432" y="3135540"/>
            <a:ext cx="92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用户所在国</a:t>
            </a:r>
            <a:endParaRPr lang="en-US" sz="900" dirty="0"/>
          </a:p>
        </p:txBody>
      </p:sp>
      <p:pic>
        <p:nvPicPr>
          <p:cNvPr id="16" name="Image 3" descr="/home/user/Claude/deck/img/globeB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599328" y="1783080"/>
            <a:ext cx="925456" cy="69409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599328" y="2614332"/>
            <a:ext cx="92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02b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3599328" y="2842932"/>
            <a:ext cx="92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599328" y="3135540"/>
            <a:ext cx="92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1896 · 100+</a:t>
            </a:r>
            <a:endParaRPr lang="en-US" sz="900" dirty="0"/>
          </a:p>
        </p:txBody>
      </p:sp>
      <p:pic>
        <p:nvPicPr>
          <p:cNvPr id="20" name="Image 4" descr="/home/user/Claude/deck/img/vehicles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16224" y="1783080"/>
            <a:ext cx="925456" cy="69409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16224" y="2614332"/>
            <a:ext cx="92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4616224" y="2842932"/>
            <a:ext cx="92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车型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4616224" y="3135540"/>
            <a:ext cx="92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七大家族</a:t>
            </a:r>
            <a:endParaRPr lang="en-US" sz="900" dirty="0"/>
          </a:p>
        </p:txBody>
      </p:sp>
      <p:pic>
        <p:nvPicPr>
          <p:cNvPr id="24" name="Image 5" descr="/home/user/Claude/deck/img/tech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633120" y="1783080"/>
            <a:ext cx="925456" cy="69409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633120" y="2614332"/>
            <a:ext cx="92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5633120" y="2842932"/>
            <a:ext cx="92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5633120" y="3135540"/>
            <a:ext cx="92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三大能力</a:t>
            </a:r>
            <a:endParaRPr lang="en-US" sz="900" dirty="0"/>
          </a:p>
        </p:txBody>
      </p:sp>
      <p:pic>
        <p:nvPicPr>
          <p:cNvPr id="28" name="Image 6" descr="/home/user/Claude/deck/img/electric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50016" y="1783080"/>
            <a:ext cx="925456" cy="69409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650016" y="2614332"/>
            <a:ext cx="92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6650016" y="2842932"/>
            <a:ext cx="92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电驱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6650016" y="3135540"/>
            <a:ext cx="92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工程章节</a:t>
            </a:r>
            <a:endParaRPr lang="en-US" sz="900" dirty="0"/>
          </a:p>
        </p:txBody>
      </p:sp>
      <p:pic>
        <p:nvPicPr>
          <p:cNvPr id="32" name="Image 7" descr="/home/user/Claude/deck/img/offroad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666911" y="1783080"/>
            <a:ext cx="925456" cy="69409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666911" y="2614332"/>
            <a:ext cx="92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7666911" y="2842932"/>
            <a:ext cx="92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越野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7666911" y="3135540"/>
            <a:ext cx="92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工程章节</a:t>
            </a:r>
            <a:endParaRPr lang="en-US" sz="900" dirty="0"/>
          </a:p>
        </p:txBody>
      </p:sp>
      <p:pic>
        <p:nvPicPr>
          <p:cNvPr id="36" name="Image 8" descr="/home/user/Claude/deck/img/news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683807" y="1783080"/>
            <a:ext cx="925456" cy="694092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683807" y="2614332"/>
            <a:ext cx="92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8683807" y="2842932"/>
            <a:ext cx="92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资讯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8683807" y="3135540"/>
            <a:ext cx="92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&amp; Insights</a:t>
            </a:r>
            <a:endParaRPr lang="en-US" sz="900" dirty="0"/>
          </a:p>
        </p:txBody>
      </p:sp>
      <p:pic>
        <p:nvPicPr>
          <p:cNvPr id="40" name="Image 9" descr="/home/user/Claude/deck/img/subscribe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700703" y="1783080"/>
            <a:ext cx="925456" cy="694092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9700703" y="2614332"/>
            <a:ext cx="92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9700703" y="2842932"/>
            <a:ext cx="92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订阅</a:t>
            </a:r>
            <a:endParaRPr lang="en-US" sz="1300" dirty="0"/>
          </a:p>
        </p:txBody>
      </p:sp>
      <p:sp>
        <p:nvSpPr>
          <p:cNvPr id="43" name="Text 31"/>
          <p:cNvSpPr txBox="1"/>
          <p:nvPr/>
        </p:nvSpPr>
        <p:spPr>
          <a:xfrm>
            <a:off x="9700703" y="3135540"/>
            <a:ext cx="92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唯一转化</a:t>
            </a:r>
            <a:endParaRPr lang="en-US" sz="900" dirty="0"/>
          </a:p>
        </p:txBody>
      </p:sp>
      <p:pic>
        <p:nvPicPr>
          <p:cNvPr id="44" name="Image 10" descr="/home/user/Claude/deck/img/footer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717599" y="1783080"/>
            <a:ext cx="925456" cy="69409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10717599" y="2614332"/>
            <a:ext cx="92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46" name="Text 33"/>
          <p:cNvSpPr txBox="1"/>
          <p:nvPr/>
        </p:nvSpPr>
        <p:spPr>
          <a:xfrm>
            <a:off x="10717599" y="2842932"/>
            <a:ext cx="92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页脚</a:t>
            </a:r>
            <a:endParaRPr lang="en-US" sz="1300" dirty="0"/>
          </a:p>
        </p:txBody>
      </p:sp>
      <p:sp>
        <p:nvSpPr>
          <p:cNvPr id="47" name="Text 34"/>
          <p:cNvSpPr txBox="1"/>
          <p:nvPr/>
        </p:nvSpPr>
        <p:spPr>
          <a:xfrm>
            <a:off x="10717599" y="3135540"/>
            <a:ext cx="92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直达链接</a:t>
            </a:r>
            <a:endParaRPr lang="en-US" sz="900" dirty="0"/>
          </a:p>
        </p:txBody>
      </p:sp>
      <p:sp>
        <p:nvSpPr>
          <p:cNvPr id="48" name="Shape 35"/>
          <p:cNvSpPr/>
          <p:nvPr/>
        </p:nvSpPr>
        <p:spPr>
          <a:xfrm>
            <a:off x="548640" y="4160520"/>
            <a:ext cx="11094415" cy="0"/>
          </a:xfrm>
          <a:prstGeom prst="line">
            <a:avLst/>
          </a:prstGeom>
          <a:noFill/>
          <a:ln w="9525">
            <a:solidFill>
              <a:srgbClr val="3A3B3F"/>
            </a:solidFill>
            <a:prstDash val="solid"/>
          </a:ln>
        </p:spPr>
      </p:sp>
      <p:sp>
        <p:nvSpPr>
          <p:cNvPr id="49" name="Text 36"/>
          <p:cNvSpPr txBox="1"/>
          <p:nvPr/>
        </p:nvSpPr>
        <p:spPr>
          <a:xfrm>
            <a:off x="548640" y="4434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第一幕 · 我是谁</a:t>
            </a:r>
            <a:endParaRPr lang="en-US" sz="1500" dirty="0"/>
          </a:p>
        </p:txBody>
      </p:sp>
      <p:sp>
        <p:nvSpPr>
          <p:cNvPr id="50" name="Text 37"/>
          <p:cNvSpPr txBox="1"/>
          <p:nvPr/>
        </p:nvSpPr>
        <p:spPr>
          <a:xfrm>
            <a:off x="548640" y="4782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首屏 + 全球 + 数据</a:t>
            </a:r>
            <a:endParaRPr lang="en-US" sz="1000" dirty="0"/>
          </a:p>
        </p:txBody>
      </p:sp>
      <p:sp>
        <p:nvSpPr>
          <p:cNvPr id="51" name="Text 38"/>
          <p:cNvSpPr txBox="1"/>
          <p:nvPr/>
        </p:nvSpPr>
        <p:spPr>
          <a:xfrm>
            <a:off x="548640" y="509320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先讲品牌：European-born、Since 1896、100+ 国家。这是海外信任成本最低的叙事（品牌方案 ④）。</a:t>
            </a:r>
            <a:endParaRPr lang="en-US" sz="1200" dirty="0"/>
          </a:p>
        </p:txBody>
      </p:sp>
      <p:sp>
        <p:nvSpPr>
          <p:cNvPr id="52" name="Text 39"/>
          <p:cNvSpPr txBox="1"/>
          <p:nvPr/>
        </p:nvSpPr>
        <p:spPr>
          <a:xfrm>
            <a:off x="4297680" y="4434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第二幕 · 我能做什么</a:t>
            </a:r>
            <a:endParaRPr lang="en-US" sz="1500" dirty="0"/>
          </a:p>
        </p:txBody>
      </p:sp>
      <p:sp>
        <p:nvSpPr>
          <p:cNvPr id="53" name="Text 40"/>
          <p:cNvSpPr txBox="1"/>
          <p:nvPr/>
        </p:nvSpPr>
        <p:spPr>
          <a:xfrm>
            <a:off x="4297680" y="4782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车型 + 科技 + 电驱 + 越野</a:t>
            </a:r>
            <a:endParaRPr lang="en-US" sz="1000" dirty="0"/>
          </a:p>
        </p:txBody>
      </p:sp>
      <p:sp>
        <p:nvSpPr>
          <p:cNvPr id="54" name="Text 41"/>
          <p:cNvSpPr txBox="1"/>
          <p:nvPr/>
        </p:nvSpPr>
        <p:spPr>
          <a:xfrm>
            <a:off x="4297680" y="509320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以“家族”和“能力”呈现产品，不放 SKU、不放配置表（9/29 会议）。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8046720" y="4434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第三幕 · 保持联系</a:t>
            </a:r>
            <a:endParaRPr lang="en-US" sz="1500" dirty="0"/>
          </a:p>
        </p:txBody>
      </p:sp>
      <p:sp>
        <p:nvSpPr>
          <p:cNvPr id="56" name="Text 43"/>
          <p:cNvSpPr txBox="1"/>
          <p:nvPr/>
        </p:nvSpPr>
        <p:spPr>
          <a:xfrm>
            <a:off x="8046720" y="4782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资讯 + 订阅 + 页脚</a:t>
            </a:r>
            <a:endParaRPr lang="en-US" sz="1000" dirty="0"/>
          </a:p>
        </p:txBody>
      </p:sp>
      <p:sp>
        <p:nvSpPr>
          <p:cNvPr id="57" name="Text 44"/>
          <p:cNvSpPr txBox="1"/>
          <p:nvPr/>
        </p:nvSpPr>
        <p:spPr>
          <a:xfrm>
            <a:off x="8046720" y="509320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&amp; Insights 承接内容；订阅是全页唯一的实心按钮；页脚只做直达。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rgbClr val="2A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设计系统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 · Color · Spacing · Hover —— 先定规则，再做页面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035040"/>
            <a:ext cx="11094415" cy="0"/>
          </a:xfrm>
          <a:prstGeom prst="line">
            <a:avLst/>
          </a:prstGeom>
          <a:noFill/>
          <a:ln w="9525">
            <a:solidFill>
              <a:srgbClr val="2A2B2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TYPEFACES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三套字体，各司其职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0" cy="1280160"/>
          </a:xfrm>
          <a:prstGeom prst="rect">
            <a:avLst/>
          </a:prstGeom>
          <a:solidFill>
            <a:srgbClr val="121315"/>
          </a:solidFill>
          <a:ln w="9525">
            <a:solidFill>
              <a:srgbClr val="2A2B2E"/>
            </a:solidFill>
            <a:prstDash val="solid"/>
          </a:ln>
        </p:spPr>
      </p:sp>
      <p:pic>
        <p:nvPicPr>
          <p:cNvPr id="5" name="Image 0" descr="/home/user/Claude/deck/img/sp_michrom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27682"/>
            <a:ext cx="4206240" cy="4251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0" y="16459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Michroma Regular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96596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 / 品牌声音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22199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贵司提供的品牌字体。宽体几何字形与 MAXUS 字标同源，一眼就是“MAXUS 的字”。只用 Regular：新标识要求“线条由粗重变细锐”，宽体字本身视觉重量已足够，加粗反而笨重。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4572000" cy="1280160"/>
          </a:xfrm>
          <a:prstGeom prst="rect">
            <a:avLst/>
          </a:prstGeom>
          <a:solidFill>
            <a:srgbClr val="121315"/>
          </a:solidFill>
          <a:ln w="9525">
            <a:solidFill>
              <a:srgbClr val="2A2B2E"/>
            </a:solidFill>
            <a:prstDash val="solid"/>
          </a:ln>
        </p:spPr>
      </p:sp>
      <p:pic>
        <p:nvPicPr>
          <p:cNvPr id="10" name="Image 1" descr="/home/user/Claude/deck/img/sp_ligh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33556"/>
            <a:ext cx="4206240" cy="4309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315468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Geist Light / Regular / Medium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86400" y="347472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正文 · 导航 · 数字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373075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中性的现代无衬线，大屏小字都清晰，覆盖欧洲多语言字符。替换原稿的 Arimo（Arial 替代字体）与 D-DIN 粗体——后者显得陈旧、喧闹。数字用 Light，大而不重。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617720"/>
            <a:ext cx="4572000" cy="1280160"/>
          </a:xfrm>
          <a:prstGeom prst="rect">
            <a:avLst/>
          </a:prstGeom>
          <a:solidFill>
            <a:srgbClr val="121315"/>
          </a:solidFill>
          <a:ln w="9525">
            <a:solidFill>
              <a:srgbClr val="2A2B2E"/>
            </a:solidFill>
            <a:prstDash val="solid"/>
          </a:ln>
        </p:spPr>
      </p:sp>
      <p:pic>
        <p:nvPicPr>
          <p:cNvPr id="15" name="Image 2" descr="/home/user/Claude/deck/img/sp_mon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04647"/>
            <a:ext cx="4206240" cy="5063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0" y="466344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Geist Mono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0" y="498348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 · 日期 · 地点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0" y="523951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等宽字像发动机铭牌、车辆 VIN 码的工程标注，传递“Professional”的工业气质，而不是办公室的“Business”。全大写 + 小字号，只做标注，不做阅读。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TYPE SCALE · DISPLAY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字号 · 标题层：靠尺寸拉开层级，不靠加粗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00200"/>
                <a:gridCol w="1600200"/>
                <a:gridCol w="2103120"/>
                <a:gridCol w="4645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层级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字号 / 行高 / 字距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用在哪里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为什么是这个数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 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Michroma Regular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 / 112% / −2%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首屏主标题（全页仅 1 处）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1920 屏上一行约占 57% 宽度：够大、够有气势，又把画面上方 2/3 留给车。96 会占到 76%，在 1440 屏会折行并与车抢视线。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Michroma Regular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 / 115% / −2%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所有板块标题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全站只用一个板块标题字号＝一个声音。56 ≈ 72 × 0.78，层级清楚；两行标题（News &amp; Insights）也能放进 400px 栏。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Michroma Regular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 / 118% / −1.5%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车型名、订阅 Keep up with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比 H1 小一级（÷1.27），用于“板块内的主角”，不与板块标题竞争。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 Title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Geist Regular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/ 125% / −1.5%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科技详情卡标题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卡片内最大字，换成 Geist：卡片要“读”，不再是品牌喊话。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Geist 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/ 130% / −1%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新闻标题、科技卡名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图片下方的短标题，Medium 让它在图片旁站得住；24 是“标题”与“正文 20”之间的最小可辨差。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Display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Geist Light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 / 100% / −5%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1896 · 100+ · 1.2M+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数据是证据，所以与全页最大字同级；用 Light 保持“大而不重”；−5% 字距让数字紧凑成一个整体。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比例：96 → 72 → 56 → 44 → 32 → 24，相邻约 ×1.27–1.33（大三度音阶式比例），层级在远看时依然清楚。Michroma 只有 Regular，所有层级都不加粗。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F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TYPE SCALE · TEXT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字号 · 正文层：读得舒服，点得到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00200"/>
                <a:gridCol w="1600200"/>
                <a:gridCol w="2103120"/>
                <a:gridCol w="4645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层级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字号 / 行高 / 字距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用在哪里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为什么是这个数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 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Geist Regular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/ 150% / −0.5%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板块导语（宽 620–820）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导语是标题的“副歌”，22 与 H1 56 的比例约 1:2.5，衔接自然。宽度限制在 620–820px，每行 60–75 字符，是公认最舒适的阅读长度。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 M 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Geist Regular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/ 150% / −0.5%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首屏信息栏、车型描述、板块正文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1920 屏、60–70cm 观看距离下最舒适的正文尺寸；行高 150%＝30px，两三行文字不会挤。原 18px 在大屏偏小，统一提到 20。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Geist Regular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/ 145% /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照片说明、数据说明、公告栏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辅助信息，16 是正文的最小值——全站正文绝不小于 16。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Geist Regular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/ 120% / −0.5%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顶部导航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导航是常驻工具：比 Body S 大一级，保证在 1920 和 1440 屏都第一眼可读；用 Regular 不用粗体，压在视频上依然安静（参考奔驰的简洁字体）；单行所以行高 120%。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Button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Geist 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/ 120% / −0.5%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文字链接（+16px 箭头，间距 10）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首页弱化 CTA，按钮改为文字链接；用 Medium 与正文区分“可点击”；箭头与字同高 16，视觉居中。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Geist Mono Regular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/ 140% /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日期、地点、标签（大写）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工程标注式的小字；14 是等宽体的可读下限。全大写让它像铭牌，而不是正文。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16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规则：正文 ≥ 16，标注 ≥ 14；不单独改行高与字距——需要调整时改样式本身，全站同步。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F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COLOR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黑白为核心，蓝色只在“交互的一瞬间”出现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品牌核心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94560" y="1463040"/>
            <a:ext cx="1417320" cy="566928"/>
          </a:xfrm>
          <a:prstGeom prst="rect">
            <a:avLst/>
          </a:prstGeom>
          <a:solidFill>
            <a:srgbClr val="0A0A0B"/>
          </a:solidFill>
          <a:ln w="6350">
            <a:solidFill>
              <a:srgbClr val="C8C8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94560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#0A0A0B  ·  主文字 / 浅底主按钮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730752" y="1463040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30752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730752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  ·  深底文字 / 页面底色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266944" y="1463040"/>
            <a:ext cx="1417320" cy="566928"/>
          </a:xfrm>
          <a:prstGeom prst="rect">
            <a:avLst/>
          </a:prstGeom>
          <a:solidFill>
            <a:srgbClr val="1E5FC8"/>
          </a:solidFill>
          <a:ln w="6350">
            <a:solidFill>
              <a:srgbClr val="C8C8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66944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Blue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266944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#1E5FC8  ·  浅底 Hover / Focus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03136" y="1463040"/>
            <a:ext cx="1417320" cy="566928"/>
          </a:xfrm>
          <a:prstGeom prst="rect">
            <a:avLst/>
          </a:prstGeom>
          <a:solidFill>
            <a:srgbClr val="6E9BF0"/>
          </a:solidFill>
          <a:ln w="6350">
            <a:solidFill>
              <a:srgbClr val="C8C8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03136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803136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#6E9BF0  ·  深底 Hover（对比≈7:1）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中性灰阶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94560" y="2880360"/>
            <a:ext cx="1417320" cy="566928"/>
          </a:xfrm>
          <a:prstGeom prst="rect">
            <a:avLst/>
          </a:prstGeom>
          <a:solidFill>
            <a:srgbClr val="5A5F68"/>
          </a:solidFill>
          <a:ln w="6350">
            <a:solidFill>
              <a:srgbClr val="C8C8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94560" y="3502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600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#5A5F68  ·  说明文字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30752" y="2880360"/>
            <a:ext cx="1417320" cy="566928"/>
          </a:xfrm>
          <a:prstGeom prst="rect">
            <a:avLst/>
          </a:prstGeom>
          <a:solidFill>
            <a:srgbClr val="8A8F98"/>
          </a:solidFill>
          <a:ln w="6350">
            <a:solidFill>
              <a:srgbClr val="C8C8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30752" y="3502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400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730752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#8A8F98  ·  日期 / 标签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266944" y="2880360"/>
            <a:ext cx="1417320" cy="566928"/>
          </a:xfrm>
          <a:prstGeom prst="rect">
            <a:avLst/>
          </a:prstGeom>
          <a:solidFill>
            <a:srgbClr val="F1F1F0"/>
          </a:solidFill>
          <a:ln w="6350">
            <a:solidFill>
              <a:srgbClr val="C8C8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66944" y="3502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Light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266944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#F1F1F0  ·  浅色区块底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深色界面 · 数据可视化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94560" y="4297680"/>
            <a:ext cx="1417320" cy="566928"/>
          </a:xfrm>
          <a:prstGeom prst="rect">
            <a:avLst/>
          </a:prstGeom>
          <a:solidFill>
            <a:srgbClr val="070A11"/>
          </a:solidFill>
          <a:ln w="6350">
            <a:solidFill>
              <a:srgbClr val="C8C8C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94560" y="4919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194560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#070A11  ·  全球板块底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730752" y="4297680"/>
            <a:ext cx="1417320" cy="566928"/>
          </a:xfrm>
          <a:prstGeom prst="rect">
            <a:avLst/>
          </a:prstGeom>
          <a:solidFill>
            <a:srgbClr val="0C0D0F"/>
          </a:solidFill>
          <a:ln w="6350">
            <a:solidFill>
              <a:srgbClr val="C8C8C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30752" y="4919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Dark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730752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#0C0D0F  ·  页脚底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266944" y="4297680"/>
            <a:ext cx="1417320" cy="566928"/>
          </a:xfrm>
          <a:prstGeom prst="rect">
            <a:avLst/>
          </a:prstGeom>
          <a:solidFill>
            <a:srgbClr val="1F6BC6"/>
          </a:solidFill>
          <a:ln w="6350">
            <a:solidFill>
              <a:srgbClr val="C8C8C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66944" y="4919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Globe Ocean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266944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#1F6BC6  ·  地球海洋（仅地球）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03136" y="4297680"/>
            <a:ext cx="1417320" cy="566928"/>
          </a:xfrm>
          <a:prstGeom prst="rect">
            <a:avLst/>
          </a:prstGeom>
          <a:solidFill>
            <a:srgbClr val="61F2AD"/>
          </a:solidFill>
          <a:ln w="6350">
            <a:solidFill>
              <a:srgbClr val="C8C8C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03136" y="4919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Globe Land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803136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#61F2AD  ·  陆地点阵（仅地球）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850392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503920" y="1874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黑白＝信任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50392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品牌方案：黑白核心色跨文化传达 trust、clarity、authority，去装饰化。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503920" y="2898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蓝色＝电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503920" y="31729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方案把辅助色收敛为“一抹高饱和亮蓝，代表电动能量”。我们只让它在 Hover 时亮起——用户触碰，品牌“通电”。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503920" y="39227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不做蓝色按钮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503920" y="41970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蓝色按钮是车企和 B2B 网站的通用做法，反而显得普通。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503920" y="49469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深底文字透明度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503920" y="522122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 100% · 正文 80% · 说明 72% · 标签 60%，用透明度而不是新颜色拉层级。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F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SPACING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同一把尺子：8 的倍数，每一屏的呼吸一样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8521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65760" cy="4480560"/>
          </a:xfrm>
          <a:prstGeom prst="rect">
            <a:avLst/>
          </a:prstGeom>
          <a:solidFill>
            <a:srgbClr val="E4ECFA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1508760"/>
            <a:ext cx="365760" cy="4480560"/>
          </a:xfrm>
          <a:prstGeom prst="rect">
            <a:avLst/>
          </a:prstGeom>
          <a:solidFill>
            <a:srgbClr val="E4EC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08760"/>
            <a:ext cx="5852160" cy="426720"/>
          </a:xfrm>
          <a:prstGeom prst="rect">
            <a:avLst/>
          </a:prstGeom>
          <a:solidFill>
            <a:srgbClr val="FBE9D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35480"/>
            <a:ext cx="3072384" cy="109728"/>
          </a:xfrm>
          <a:prstGeom prst="rect">
            <a:avLst/>
          </a:prstGeom>
          <a:solidFill>
            <a:srgbClr val="C9CBC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87552" y="18989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眉标  Data Mono 14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096512" y="2026920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24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2118360"/>
            <a:ext cx="3072384" cy="329184"/>
          </a:xfrm>
          <a:prstGeom prst="rect">
            <a:avLst/>
          </a:prstGeom>
          <a:solidFill>
            <a:srgbClr val="C9CBC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7552" y="2191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板块标题  H1 56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096512" y="2429256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24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2520696"/>
            <a:ext cx="3072384" cy="384048"/>
          </a:xfrm>
          <a:prstGeom prst="rect">
            <a:avLst/>
          </a:prstGeom>
          <a:solidFill>
            <a:srgbClr val="C9CBC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87552" y="2621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导语  Body L 22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2886456"/>
            <a:ext cx="731520" cy="143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32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3002280"/>
            <a:ext cx="3072384" cy="109728"/>
          </a:xfrm>
          <a:prstGeom prst="rect">
            <a:avLst/>
          </a:prstGeom>
          <a:solidFill>
            <a:srgbClr val="C9CBC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7552" y="29657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文字链接  Button 16 →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096512" y="3093720"/>
            <a:ext cx="7315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80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4400" y="3355848"/>
            <a:ext cx="5120640" cy="1417320"/>
          </a:xfrm>
          <a:prstGeom prst="rect">
            <a:avLst/>
          </a:prstGeom>
          <a:solidFill>
            <a:srgbClr val="DADBD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7552" y="39730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内容区（卡片 / 图片）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669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5669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15361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6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508760"/>
          <a:ext cx="49377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029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页面左右边距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5F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1920 屏上内容宽 1680，左右各留 6%，画面有“画册”的边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板块上下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5F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屏与屏之间的停顿，像翻页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标题组 → 内容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5F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先读标题，再看内容的节奏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导语 → 文字链接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5F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链接紧跟导语，读完就能点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眉标 → 标题 → 导语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5F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同一组信息，靠近才是一组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卡片间距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5F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卡片成组，不散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0A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文字 → 箭头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5F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F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箭头属于文字，不是独立按钮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6720840" y="5394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全部为 8 的倍数（或 4 的细分）：开发可以直接写成变量，各国站复用时不会走样。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F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INTERACTION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Hover：只变色，不加底、不加粗</a:t>
            </a:r>
            <a:endParaRPr lang="en-US" sz="2800" dirty="0"/>
          </a:p>
        </p:txBody>
      </p:sp>
      <p:pic>
        <p:nvPicPr>
          <p:cNvPr id="4" name="Image 0" descr="/home/user/Claude/deck/img/ds_h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49440" cy="3085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81812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文字链接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文字与箭头变主题蓝；箭头右移 4px，提示“往前走”。200ms ease-out。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导航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5420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文字变 #6E9BF0 + 2px 下划线（深底）。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3072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车型标签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33467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默认灰 → 悬停蓝 → 选中墨色 + 2px 下划线。三态清楚。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3877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新闻卡片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1513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标题变蓝，图片放大 1.03（400ms）。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4681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 / 播放按钮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4956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细描边变蓝，底色不变。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5577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依据：会议纪要“参考奔驰的按钮悬浮状态反馈”。Figma 中已建成可交互组件“MAXUS / 文字链接（含 Hover）”，演示模式可直接体验。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F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rgbClr val="2A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逐屏解说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每一屏：看到什么 · 为什么这样 · 体现什么品牌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035040"/>
            <a:ext cx="11094415" cy="0"/>
          </a:xfrm>
          <a:prstGeom prst="line">
            <a:avLst/>
          </a:prstGeom>
          <a:noFill/>
          <a:ln w="9525">
            <a:solidFill>
              <a:srgbClr val="2A2B2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01  ANNOUNCEMENT &amp; NAVIGATION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公告栏与导航：第一眼读到口号，第二眼找到路</a:t>
            </a:r>
            <a:endParaRPr lang="en-US" sz="2800" dirty="0"/>
          </a:p>
        </p:txBody>
      </p:sp>
      <p:pic>
        <p:nvPicPr>
          <p:cNvPr id="4" name="Image 0" descr="/home/user/Claude/deck/img/crop_na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1094415" cy="735005"/>
          </a:xfrm>
          <a:prstGeom prst="rect">
            <a:avLst/>
          </a:prstGeom>
        </p:spPr>
      </p:pic>
      <p:sp>
        <p:nvSpPr>
          <p:cNvPr id="5" name="marker 1"/>
          <p:cNvSpPr/>
          <p:nvPr/>
        </p:nvSpPr>
        <p:spPr>
          <a:xfrm>
            <a:off x="3581248" y="1555133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581248" y="155513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marker 2"/>
          <p:cNvSpPr/>
          <p:nvPr/>
        </p:nvSpPr>
        <p:spPr>
          <a:xfrm>
            <a:off x="1174728" y="233411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74728" y="23341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marker 3"/>
          <p:cNvSpPr/>
          <p:nvPr/>
        </p:nvSpPr>
        <p:spPr>
          <a:xfrm>
            <a:off x="5958688" y="233411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58688" y="23341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marker 4"/>
          <p:cNvSpPr/>
          <p:nvPr/>
        </p:nvSpPr>
        <p:spPr>
          <a:xfrm>
            <a:off x="10985844" y="233411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85844" y="23341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marker 5"/>
          <p:cNvSpPr/>
          <p:nvPr/>
        </p:nvSpPr>
        <p:spPr>
          <a:xfrm>
            <a:off x="2722817" y="2198045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22817" y="21980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marker 1"/>
          <p:cNvSpPr/>
          <p:nvPr/>
        </p:nvSpPr>
        <p:spPr>
          <a:xfrm>
            <a:off x="548640" y="277977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2788920"/>
            <a:ext cx="3103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公告栏 · Body S 16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3081528"/>
            <a:ext cx="31037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第一行就是口号 Drive the Charge。两侧细箭头呼应新标识“向远方打开的路”与“向前冲锋”的动势；做细、做渐隐，不抢首屏。</a:t>
            </a:r>
            <a:endParaRPr lang="en-US" sz="1100" dirty="0"/>
          </a:p>
        </p:txBody>
      </p:sp>
      <p:sp>
        <p:nvSpPr>
          <p:cNvPr id="19" name="marker 2"/>
          <p:cNvSpPr/>
          <p:nvPr/>
        </p:nvSpPr>
        <p:spPr>
          <a:xfrm>
            <a:off x="4338218" y="277977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38218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749698" y="2788920"/>
            <a:ext cx="3103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· 横版组合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749698" y="3081528"/>
            <a:ext cx="310377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按品牌规范，横版用于高度受限的位置。高 24px，与导航文字光学对齐。</a:t>
            </a:r>
            <a:endParaRPr lang="en-US" sz="1100" dirty="0"/>
          </a:p>
        </p:txBody>
      </p:sp>
      <p:sp>
        <p:nvSpPr>
          <p:cNvPr id="23" name="marker 3"/>
          <p:cNvSpPr/>
          <p:nvPr/>
        </p:nvSpPr>
        <p:spPr>
          <a:xfrm>
            <a:off x="8127797" y="277977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27797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539277" y="2788920"/>
            <a:ext cx="3103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导航 · Geist Regular 18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539277" y="3081528"/>
            <a:ext cx="31037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常驻工具，比正文小字大一级，1920 / 1440 屏都第一眼可读；Regular 不加粗，压在视频上也安静。5 个一级入口居中，项间距 34px。</a:t>
            </a:r>
            <a:endParaRPr lang="en-US" sz="1100" dirty="0"/>
          </a:p>
        </p:txBody>
      </p:sp>
      <p:sp>
        <p:nvSpPr>
          <p:cNvPr id="27" name="marker 4"/>
          <p:cNvSpPr/>
          <p:nvPr/>
        </p:nvSpPr>
        <p:spPr>
          <a:xfrm>
            <a:off x="548640" y="437997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4379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960120" y="4389120"/>
            <a:ext cx="3103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工具图标 · 20px 线性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60120" y="4681728"/>
            <a:ext cx="310377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 / 下载 / 账户。1.5px 线宽、圆头，与箭头图标同一套笔画。</a:t>
            </a:r>
            <a:endParaRPr lang="en-US" sz="1100" dirty="0"/>
          </a:p>
        </p:txBody>
      </p:sp>
      <p:sp>
        <p:nvSpPr>
          <p:cNvPr id="31" name="marker 5"/>
          <p:cNvSpPr/>
          <p:nvPr/>
        </p:nvSpPr>
        <p:spPr>
          <a:xfrm>
            <a:off x="4338218" y="437997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38218" y="4379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4749698" y="4389120"/>
            <a:ext cx="3103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1px 分隔线 · 白 12%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749698" y="4681728"/>
            <a:ext cx="310377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导航透明叠在视频上，保持沉浸；只用一根极淡的线分层，不用实色底条。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01  HERO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首屏：一句主张，一个画面，三句身份</a:t>
            </a:r>
            <a:endParaRPr lang="en-US" sz="2800" dirty="0"/>
          </a:p>
        </p:txBody>
      </p:sp>
      <p:pic>
        <p:nvPicPr>
          <p:cNvPr id="4" name="hero.jpg" descr="/home/user/Claude/deck/img/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498080" cy="44051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7498080" cy="4405122"/>
          </a:xfrm>
          <a:prstGeom prst="rect">
            <a:avLst/>
          </a:prstGeom>
          <a:ln w="9525">
            <a:solidFill>
              <a:srgbClr val="2A2B2E"/>
            </a:solidFill>
            <a:prstDash val="solid"/>
          </a:ln>
        </p:spPr>
      </p:sp>
      <p:sp>
        <p:nvSpPr>
          <p:cNvPr id="6" name="marker 1"/>
          <p:cNvSpPr/>
          <p:nvPr/>
        </p:nvSpPr>
        <p:spPr>
          <a:xfrm>
            <a:off x="1700213" y="493699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00213" y="49369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marker 2"/>
          <p:cNvSpPr/>
          <p:nvPr/>
        </p:nvSpPr>
        <p:spPr>
          <a:xfrm>
            <a:off x="997268" y="524941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7268" y="52494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marker 3"/>
          <p:cNvSpPr/>
          <p:nvPr/>
        </p:nvSpPr>
        <p:spPr>
          <a:xfrm>
            <a:off x="3926205" y="528847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26205" y="52884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marker 4"/>
          <p:cNvSpPr/>
          <p:nvPr/>
        </p:nvSpPr>
        <p:spPr>
          <a:xfrm>
            <a:off x="6894195" y="524941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94195" y="52494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marker 5"/>
          <p:cNvSpPr/>
          <p:nvPr/>
        </p:nvSpPr>
        <p:spPr>
          <a:xfrm>
            <a:off x="6269355" y="290626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9355" y="29062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marker 1"/>
          <p:cNvSpPr/>
          <p:nvPr/>
        </p:nvSpPr>
        <p:spPr>
          <a:xfrm>
            <a:off x="8458200" y="14721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148132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主标题 · Display L 72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1773936"/>
            <a:ext cx="277337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全页唯一的 72。一行居中、压在下 1/3，把上方 2/3 留给车——车是主角，字是旁白。</a:t>
            </a:r>
            <a:endParaRPr lang="en-US" sz="1100" dirty="0"/>
          </a:p>
        </p:txBody>
      </p:sp>
      <p:sp>
        <p:nvSpPr>
          <p:cNvPr id="20" name="marker 2"/>
          <p:cNvSpPr/>
          <p:nvPr/>
        </p:nvSpPr>
        <p:spPr>
          <a:xfrm>
            <a:off x="8458200" y="241858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4185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2427732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EUROPEAN-BORN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720340"/>
            <a:ext cx="277337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直接取自品牌定位陈述“European-born commercial vehicle brand”。</a:t>
            </a:r>
            <a:endParaRPr lang="en-US" sz="1100" dirty="0"/>
          </a:p>
        </p:txBody>
      </p:sp>
      <p:sp>
        <p:nvSpPr>
          <p:cNvPr id="24" name="marker 3"/>
          <p:cNvSpPr/>
          <p:nvPr/>
        </p:nvSpPr>
        <p:spPr>
          <a:xfrm>
            <a:off x="8458200" y="336499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5820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337413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一句话产品线 · Body M 20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3666744"/>
            <a:ext cx="277337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“从轻客、皮卡到重卡，纯电/混动/柴油”——方案 Boilerplate 的浓缩。20px，两行居中。</a:t>
            </a:r>
            <a:endParaRPr lang="en-US" sz="1100" dirty="0"/>
          </a:p>
        </p:txBody>
      </p:sp>
      <p:sp>
        <p:nvSpPr>
          <p:cNvPr id="28" name="marker 4"/>
          <p:cNvSpPr/>
          <p:nvPr/>
        </p:nvSpPr>
        <p:spPr>
          <a:xfrm>
            <a:off x="8458200" y="431139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58200" y="43113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0" y="432054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HERITAGE SINCE 1896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4613148"/>
            <a:ext cx="277337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欧洲血统是海外信任的捷径（品牌方案 ④）。</a:t>
            </a:r>
            <a:endParaRPr lang="en-US" sz="1100" dirty="0"/>
          </a:p>
        </p:txBody>
      </p:sp>
      <p:sp>
        <p:nvSpPr>
          <p:cNvPr id="32" name="marker 5"/>
          <p:cNvSpPr/>
          <p:nvPr/>
        </p:nvSpPr>
        <p:spPr>
          <a:xfrm>
            <a:off x="8458200" y="507034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58200" y="50703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5079492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视频主视觉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869680" y="5372100"/>
            <a:ext cx="277337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动态画面传递“驭电先行”的速度感。当前车型为参考素材，正式版换 MAXUS 实拍。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02  GLOBAL · STAGE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 · 第一段：地球自转，“One brand”</a:t>
            </a:r>
            <a:endParaRPr lang="en-US" sz="2800" dirty="0"/>
          </a:p>
        </p:txBody>
      </p:sp>
      <p:pic>
        <p:nvPicPr>
          <p:cNvPr id="4" name="globe0.jpg" descr="/home/user/Claude/deck/img/globe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498080" cy="421767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7498080" cy="4217670"/>
          </a:xfrm>
          <a:prstGeom prst="rect">
            <a:avLst/>
          </a:prstGeom>
          <a:ln w="9525">
            <a:solidFill>
              <a:srgbClr val="2A2B2E"/>
            </a:solidFill>
            <a:prstDash val="solid"/>
          </a:ln>
        </p:spPr>
      </p:sp>
      <p:sp>
        <p:nvSpPr>
          <p:cNvPr id="6" name="marker 1"/>
          <p:cNvSpPr/>
          <p:nvPr/>
        </p:nvSpPr>
        <p:spPr>
          <a:xfrm>
            <a:off x="2598420" y="317963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598420" y="31796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marker 2"/>
          <p:cNvSpPr/>
          <p:nvPr/>
        </p:nvSpPr>
        <p:spPr>
          <a:xfrm>
            <a:off x="5293042" y="2515743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93042" y="251574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marker 3"/>
          <p:cNvSpPr/>
          <p:nvPr/>
        </p:nvSpPr>
        <p:spPr>
          <a:xfrm>
            <a:off x="3926205" y="3257741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26205" y="32577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marker 4"/>
          <p:cNvSpPr/>
          <p:nvPr/>
        </p:nvSpPr>
        <p:spPr>
          <a:xfrm>
            <a:off x="4394835" y="522989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94835" y="5229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marker 1"/>
          <p:cNvSpPr/>
          <p:nvPr/>
        </p:nvSpPr>
        <p:spPr>
          <a:xfrm>
            <a:off x="8458200" y="14721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148132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标题压在地球上 · H1 56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869680" y="1773936"/>
            <a:ext cx="277337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标题与地球合成一个画面——“一个品牌，一个世界”，字面即画面。</a:t>
            </a:r>
            <a:endParaRPr lang="en-US" sz="1100" dirty="0"/>
          </a:p>
        </p:txBody>
      </p:sp>
      <p:sp>
        <p:nvSpPr>
          <p:cNvPr id="18" name="marker 2"/>
          <p:cNvSpPr/>
          <p:nvPr/>
        </p:nvSpPr>
        <p:spPr>
          <a:xfrm>
            <a:off x="8458200" y="223113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22402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点阵地球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869680" y="2532888"/>
            <a:ext cx="277337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陆地用细点阵：呼应新标识“线条细锐、数字化光束质感”。蓝绿只用于地球，作为数据可视化，不进入 UI。</a:t>
            </a:r>
            <a:endParaRPr lang="en-US" sz="1100" dirty="0"/>
          </a:p>
        </p:txBody>
      </p:sp>
      <p:sp>
        <p:nvSpPr>
          <p:cNvPr id="22" name="marker 3"/>
          <p:cNvSpPr/>
          <p:nvPr/>
        </p:nvSpPr>
        <p:spPr>
          <a:xfrm>
            <a:off x="8458200" y="317754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58200" y="31775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869680" y="3186684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方框定位标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3479292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与箭头图标同一笔画语言，克制、工程化。</a:t>
            </a:r>
            <a:endParaRPr lang="en-US" sz="1100" dirty="0"/>
          </a:p>
        </p:txBody>
      </p:sp>
      <p:sp>
        <p:nvSpPr>
          <p:cNvPr id="26" name="marker 4"/>
          <p:cNvSpPr/>
          <p:nvPr/>
        </p:nvSpPr>
        <p:spPr>
          <a:xfrm>
            <a:off x="8458200" y="383590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38359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3845052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YOUR MARKET … · Mono 14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137660"/>
            <a:ext cx="277337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后台按 IP 识别国家，小字提示“正在找到你”。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02  GLOBAL · STAGE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 · 第二段：停在“你”的国家，看见本地</a:t>
            </a:r>
            <a:endParaRPr lang="en-US" sz="2800" dirty="0"/>
          </a:p>
        </p:txBody>
      </p:sp>
      <p:pic>
        <p:nvPicPr>
          <p:cNvPr id="4" name="globeA.jpg" descr="/home/user/Claude/deck/img/globe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498080" cy="421767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7498080" cy="4217670"/>
          </a:xfrm>
          <a:prstGeom prst="rect">
            <a:avLst/>
          </a:prstGeom>
          <a:ln w="9525">
            <a:solidFill>
              <a:srgbClr val="2A2B2E"/>
            </a:solidFill>
            <a:prstDash val="solid"/>
          </a:ln>
        </p:spPr>
      </p:sp>
      <p:sp>
        <p:nvSpPr>
          <p:cNvPr id="6" name="marker 1"/>
          <p:cNvSpPr/>
          <p:nvPr/>
        </p:nvSpPr>
        <p:spPr>
          <a:xfrm>
            <a:off x="3809047" y="416375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09047" y="41637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marker 2"/>
          <p:cNvSpPr/>
          <p:nvPr/>
        </p:nvSpPr>
        <p:spPr>
          <a:xfrm>
            <a:off x="1075373" y="228142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75373" y="22814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marker 3"/>
          <p:cNvSpPr/>
          <p:nvPr/>
        </p:nvSpPr>
        <p:spPr>
          <a:xfrm>
            <a:off x="2832735" y="384352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32735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marker 4"/>
          <p:cNvSpPr/>
          <p:nvPr/>
        </p:nvSpPr>
        <p:spPr>
          <a:xfrm>
            <a:off x="1348740" y="399973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48740" y="39997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marker 1"/>
          <p:cNvSpPr/>
          <p:nvPr/>
        </p:nvSpPr>
        <p:spPr>
          <a:xfrm>
            <a:off x="8458200" y="14721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148132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定位光环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869680" y="1773936"/>
            <a:ext cx="277337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地球转到用户所在国（示例：英国）停住，两圈细光环表示“你在这里”。</a:t>
            </a:r>
            <a:endParaRPr lang="en-US" sz="1100" dirty="0"/>
          </a:p>
        </p:txBody>
      </p:sp>
      <p:sp>
        <p:nvSpPr>
          <p:cNvPr id="18" name="marker 2"/>
          <p:cNvSpPr/>
          <p:nvPr/>
        </p:nvSpPr>
        <p:spPr>
          <a:xfrm>
            <a:off x="8458200" y="223113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22402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张本地实景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869680" y="2532888"/>
            <a:ext cx="2773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同一国家的真实用车场景：配送、木工、花店、接送。Global Brand, Local Action（9/24 会议）。</a:t>
            </a:r>
            <a:endParaRPr lang="en-US" sz="1100" dirty="0"/>
          </a:p>
        </p:txBody>
      </p:sp>
      <p:sp>
        <p:nvSpPr>
          <p:cNvPr id="22" name="marker 3"/>
          <p:cNvSpPr/>
          <p:nvPr/>
        </p:nvSpPr>
        <p:spPr>
          <a:xfrm>
            <a:off x="8458200" y="336499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5820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869680" y="337413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细引线 · 白 22%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3666744"/>
            <a:ext cx="277337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每张照片都连回定位点：所有本地故事，属于同一个 MAXUS。</a:t>
            </a:r>
            <a:endParaRPr lang="en-US" sz="1100" dirty="0"/>
          </a:p>
        </p:txBody>
      </p:sp>
      <p:sp>
        <p:nvSpPr>
          <p:cNvPr id="26" name="marker 4"/>
          <p:cNvSpPr/>
          <p:nvPr/>
        </p:nvSpPr>
        <p:spPr>
          <a:xfrm>
            <a:off x="8458200" y="412394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413308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地点标注 · Mono 14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42569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只标地点，不放正文，控制文字量。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02  GLOBAL · STAGE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 · 第三段：先讲故事，再给证据</a:t>
            </a:r>
            <a:endParaRPr lang="en-US" sz="2800" dirty="0"/>
          </a:p>
        </p:txBody>
      </p:sp>
      <p:pic>
        <p:nvPicPr>
          <p:cNvPr id="4" name="globeB.jpg" descr="/home/user/Claude/deck/img/globe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498080" cy="421767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7498080" cy="4217670"/>
          </a:xfrm>
          <a:prstGeom prst="rect">
            <a:avLst/>
          </a:prstGeom>
          <a:ln w="9525">
            <a:solidFill>
              <a:srgbClr val="2A2B2E"/>
            </a:solidFill>
            <a:prstDash val="solid"/>
          </a:ln>
        </p:spPr>
      </p:sp>
      <p:sp>
        <p:nvSpPr>
          <p:cNvPr id="6" name="marker 1"/>
          <p:cNvSpPr/>
          <p:nvPr/>
        </p:nvSpPr>
        <p:spPr>
          <a:xfrm>
            <a:off x="1348740" y="4702683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48740" y="47026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marker 2"/>
          <p:cNvSpPr/>
          <p:nvPr/>
        </p:nvSpPr>
        <p:spPr>
          <a:xfrm>
            <a:off x="3516154" y="4702683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16154" y="47026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marker 3"/>
          <p:cNvSpPr/>
          <p:nvPr/>
        </p:nvSpPr>
        <p:spPr>
          <a:xfrm>
            <a:off x="4160520" y="384352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6052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marker 4"/>
          <p:cNvSpPr/>
          <p:nvPr/>
        </p:nvSpPr>
        <p:spPr>
          <a:xfrm>
            <a:off x="4394835" y="351158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94835" y="35115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marker 1"/>
          <p:cNvSpPr/>
          <p:nvPr/>
        </p:nvSpPr>
        <p:spPr>
          <a:xfrm>
            <a:off x="8458200" y="14721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148132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 · Geist Light 96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869680" y="1773936"/>
            <a:ext cx="2773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1896 · 100+ · 1.2M+。与全页最大字同级——数据是证据，要被看清、被记住。Light 字重，大而不重。</a:t>
            </a:r>
            <a:endParaRPr lang="en-US" sz="1100" dirty="0"/>
          </a:p>
        </p:txBody>
      </p:sp>
      <p:sp>
        <p:nvSpPr>
          <p:cNvPr id="18" name="marker 2"/>
          <p:cNvSpPr/>
          <p:nvPr/>
        </p:nvSpPr>
        <p:spPr>
          <a:xfrm>
            <a:off x="8458200" y="260604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2615184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1px 竖分隔 · 白 16%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869680" y="2907792"/>
            <a:ext cx="277337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不用磨砂底板：底板会切断地球，让画面变成两层。数字直接站在深色上。</a:t>
            </a:r>
            <a:endParaRPr lang="en-US" sz="1100" dirty="0"/>
          </a:p>
        </p:txBody>
      </p:sp>
      <p:sp>
        <p:nvSpPr>
          <p:cNvPr id="22" name="marker 3"/>
          <p:cNvSpPr/>
          <p:nvPr/>
        </p:nvSpPr>
        <p:spPr>
          <a:xfrm>
            <a:off x="8458200" y="336499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5820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869680" y="337413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地球下沉渐隐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3666744"/>
            <a:ext cx="277337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地球下半部融入 Navy 底，数字自然浮出。</a:t>
            </a:r>
            <a:endParaRPr lang="en-US" sz="1100" dirty="0"/>
          </a:p>
        </p:txBody>
      </p:sp>
      <p:sp>
        <p:nvSpPr>
          <p:cNvPr id="26" name="marker 4"/>
          <p:cNvSpPr/>
          <p:nvPr/>
        </p:nvSpPr>
        <p:spPr>
          <a:xfrm>
            <a:off x="8458200" y="412394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413308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定位保留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42569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提醒用户：这些数字，也包括你的国家。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03  VEHICLES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车型：讲“家族”，不讲 SKU</a:t>
            </a:r>
            <a:endParaRPr lang="en-US" sz="2800" dirty="0"/>
          </a:p>
        </p:txBody>
      </p:sp>
      <p:pic>
        <p:nvPicPr>
          <p:cNvPr id="4" name="vehicles.jpg" descr="/home/user/Claude/deck/img/vehic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44862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7244862" cy="4709160"/>
          </a:xfrm>
          <a:prstGeom prst="rect">
            <a:avLst/>
          </a:prstGeom>
          <a:ln w="9525">
            <a:solidFill>
              <a:srgbClr val="2A2B2E"/>
            </a:solidFill>
            <a:prstDash val="solid"/>
          </a:ln>
        </p:spPr>
      </p:sp>
      <p:sp>
        <p:nvSpPr>
          <p:cNvPr id="6" name="marker 1"/>
          <p:cNvSpPr/>
          <p:nvPr/>
        </p:nvSpPr>
        <p:spPr>
          <a:xfrm>
            <a:off x="4033911" y="202337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033911" y="2023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marker 2"/>
          <p:cNvSpPr/>
          <p:nvPr/>
        </p:nvSpPr>
        <p:spPr>
          <a:xfrm>
            <a:off x="864284" y="270258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4284" y="2702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marker 3"/>
          <p:cNvSpPr/>
          <p:nvPr/>
        </p:nvSpPr>
        <p:spPr>
          <a:xfrm>
            <a:off x="2675499" y="285351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75499" y="28535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marker 4"/>
          <p:cNvSpPr/>
          <p:nvPr/>
        </p:nvSpPr>
        <p:spPr>
          <a:xfrm>
            <a:off x="1392555" y="3291225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92555" y="32912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marker 5"/>
          <p:cNvSpPr/>
          <p:nvPr/>
        </p:nvSpPr>
        <p:spPr>
          <a:xfrm>
            <a:off x="637882" y="4083631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7882" y="40836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marker 1"/>
          <p:cNvSpPr/>
          <p:nvPr/>
        </p:nvSpPr>
        <p:spPr>
          <a:xfrm>
            <a:off x="8204982" y="14721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04982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616462" y="1481328"/>
            <a:ext cx="302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巨幅 MAXUS 字标 · 浅灰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616462" y="1773936"/>
            <a:ext cx="302659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品牌在场但不喧哗；把八个车型收在一个名字下——ONE MAXUS。</a:t>
            </a:r>
            <a:endParaRPr lang="en-US" sz="1100" dirty="0"/>
          </a:p>
        </p:txBody>
      </p:sp>
      <p:sp>
        <p:nvSpPr>
          <p:cNvPr id="20" name="marker 2"/>
          <p:cNvSpPr/>
          <p:nvPr/>
        </p:nvSpPr>
        <p:spPr>
          <a:xfrm>
            <a:off x="8204982" y="219456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04982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616462" y="2203704"/>
            <a:ext cx="302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选中态 · 墨色 + 2px 下划线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616462" y="2496312"/>
            <a:ext cx="302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黑白表达选中，不用蓝色；悬停时变蓝。</a:t>
            </a:r>
            <a:endParaRPr lang="en-US" sz="1100" dirty="0"/>
          </a:p>
        </p:txBody>
      </p:sp>
      <p:sp>
        <p:nvSpPr>
          <p:cNvPr id="24" name="marker 3"/>
          <p:cNvSpPr/>
          <p:nvPr/>
        </p:nvSpPr>
        <p:spPr>
          <a:xfrm>
            <a:off x="8204982" y="281635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04982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616462" y="2825496"/>
            <a:ext cx="302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八大家族等宽排列 · Nav 18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616462" y="3118104"/>
            <a:ext cx="302659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对应品牌方案的七大家族 + 改装车，一眼看到全谱系（重卡显性列出）。</a:t>
            </a:r>
            <a:endParaRPr lang="en-US" sz="1100" dirty="0"/>
          </a:p>
        </p:txBody>
      </p:sp>
      <p:sp>
        <p:nvSpPr>
          <p:cNvPr id="28" name="marker 4"/>
          <p:cNvSpPr/>
          <p:nvPr/>
        </p:nvSpPr>
        <p:spPr>
          <a:xfrm>
            <a:off x="8204982" y="353872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04982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616462" y="3547872"/>
            <a:ext cx="302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车型小图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616462" y="3840480"/>
            <a:ext cx="302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随标签切换，帮助快速识别车型轮廓。</a:t>
            </a:r>
            <a:endParaRPr lang="en-US" sz="1100" dirty="0"/>
          </a:p>
        </p:txBody>
      </p:sp>
      <p:sp>
        <p:nvSpPr>
          <p:cNvPr id="32" name="marker 5"/>
          <p:cNvSpPr/>
          <p:nvPr/>
        </p:nvSpPr>
        <p:spPr>
          <a:xfrm>
            <a:off x="8204982" y="4160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04982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616462" y="4169664"/>
            <a:ext cx="302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车型名 H2 44 + 描述 Body M 20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616462" y="4462272"/>
            <a:ext cx="302659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一句用途，不放参数和配置表（9/29 会议：首页不放配置表）。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04  TECHNOLOGY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科技：三件事，各用一个画面讲</a:t>
            </a:r>
            <a:endParaRPr lang="en-US" sz="2800" dirty="0"/>
          </a:p>
        </p:txBody>
      </p:sp>
      <p:pic>
        <p:nvPicPr>
          <p:cNvPr id="4" name="tech.jpg" descr="/home/user/Claude/deck/img/te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498080" cy="42723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7498080" cy="4272344"/>
          </a:xfrm>
          <a:prstGeom prst="rect">
            <a:avLst/>
          </a:prstGeom>
          <a:ln w="9525">
            <a:solidFill>
              <a:srgbClr val="2A2B2E"/>
            </a:solidFill>
            <a:prstDash val="solid"/>
          </a:ln>
        </p:spPr>
      </p:sp>
      <p:sp>
        <p:nvSpPr>
          <p:cNvPr id="6" name="marker 1"/>
          <p:cNvSpPr/>
          <p:nvPr/>
        </p:nvSpPr>
        <p:spPr>
          <a:xfrm>
            <a:off x="645795" y="1539431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5795" y="15394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marker 2"/>
          <p:cNvSpPr/>
          <p:nvPr/>
        </p:nvSpPr>
        <p:spPr>
          <a:xfrm>
            <a:off x="6659880" y="3101531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59880" y="31015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marker 3"/>
          <p:cNvSpPr/>
          <p:nvPr/>
        </p:nvSpPr>
        <p:spPr>
          <a:xfrm>
            <a:off x="1973580" y="3765423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73580" y="37654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marker 4"/>
          <p:cNvSpPr/>
          <p:nvPr/>
        </p:nvSpPr>
        <p:spPr>
          <a:xfrm>
            <a:off x="1895475" y="480031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95475" y="48003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marker 1"/>
          <p:cNvSpPr/>
          <p:nvPr/>
        </p:nvSpPr>
        <p:spPr>
          <a:xfrm>
            <a:off x="8458200" y="14721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148132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 · H1 56 两行左对齐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869680" y="1773936"/>
            <a:ext cx="277337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“Technology for the way you move.”——科技服务于“你的工作方式”，而不是参数。</a:t>
            </a:r>
            <a:endParaRPr lang="en-US" sz="1100" dirty="0"/>
          </a:p>
        </p:txBody>
      </p:sp>
      <p:sp>
        <p:nvSpPr>
          <p:cNvPr id="18" name="marker 2"/>
          <p:cNvSpPr/>
          <p:nvPr/>
        </p:nvSpPr>
        <p:spPr>
          <a:xfrm>
            <a:off x="8458200" y="241858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24185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2427732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三张等大视频卡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869680" y="2720340"/>
            <a:ext cx="277337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智能驾驶 / 动力方案 / 安全。会议要求“避免堆砌术语，场景化呈现”，一张卡只讲一件事。</a:t>
            </a:r>
            <a:endParaRPr lang="en-US" sz="1100" dirty="0"/>
          </a:p>
        </p:txBody>
      </p:sp>
      <p:sp>
        <p:nvSpPr>
          <p:cNvPr id="22" name="marker 3"/>
          <p:cNvSpPr/>
          <p:nvPr/>
        </p:nvSpPr>
        <p:spPr>
          <a:xfrm>
            <a:off x="8458200" y="336499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5820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869680" y="337413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磨砂播放按钮 · 72px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3666744"/>
            <a:ext cx="277337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玻璃质感 + 白色细描边：高级但不“太 tech”。悬停描边变蓝。</a:t>
            </a:r>
            <a:endParaRPr lang="en-US" sz="1100" dirty="0"/>
          </a:p>
        </p:txBody>
      </p:sp>
      <p:sp>
        <p:nvSpPr>
          <p:cNvPr id="26" name="marker 4"/>
          <p:cNvSpPr/>
          <p:nvPr/>
        </p:nvSpPr>
        <p:spPr>
          <a:xfrm>
            <a:off x="8458200" y="412394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413308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卡片名 · H4 24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42569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左下角对齐，与板块标题同一条左边线。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05–06  ENGINEERING CHAPTERS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电驱与越野：电影感大画面，文字只占左下一角</a:t>
            </a:r>
            <a:endParaRPr lang="en-US" sz="2800" dirty="0"/>
          </a:p>
        </p:txBody>
      </p:sp>
      <p:pic>
        <p:nvPicPr>
          <p:cNvPr id="4" name="electric.jpg" descr="/home/user/Claude/deck/img/electr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5440680" cy="30603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5440680" cy="3060383"/>
          </a:xfrm>
          <a:prstGeom prst="rect">
            <a:avLst/>
          </a:prstGeom>
          <a:ln w="9525">
            <a:solidFill>
              <a:srgbClr val="2A2B2E"/>
            </a:solidFill>
            <a:prstDash val="solid"/>
          </a:ln>
        </p:spPr>
      </p:sp>
      <p:sp>
        <p:nvSpPr>
          <p:cNvPr id="6" name="marker 1"/>
          <p:cNvSpPr/>
          <p:nvPr/>
        </p:nvSpPr>
        <p:spPr>
          <a:xfrm>
            <a:off x="538996" y="3186065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8996" y="318606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marker 2"/>
          <p:cNvSpPr/>
          <p:nvPr/>
        </p:nvSpPr>
        <p:spPr>
          <a:xfrm>
            <a:off x="538996" y="361111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8996" y="36111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marker 3"/>
          <p:cNvSpPr/>
          <p:nvPr/>
        </p:nvSpPr>
        <p:spPr>
          <a:xfrm>
            <a:off x="538996" y="3979497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8996" y="39794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12" name="offroad.jpg" descr="/home/user/Claude/deck/img/offro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481328"/>
            <a:ext cx="5440680" cy="306038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199632" y="1481328"/>
            <a:ext cx="5440680" cy="3060383"/>
          </a:xfrm>
          <a:prstGeom prst="rect">
            <a:avLst/>
          </a:prstGeom>
          <a:ln w="9525">
            <a:solidFill>
              <a:srgbClr val="2A2B2E"/>
            </a:solidFill>
            <a:prstDash val="solid"/>
          </a:ln>
        </p:spPr>
      </p:sp>
      <p:sp>
        <p:nvSpPr>
          <p:cNvPr id="14" name="marker 4"/>
          <p:cNvSpPr/>
          <p:nvPr/>
        </p:nvSpPr>
        <p:spPr>
          <a:xfrm>
            <a:off x="10313003" y="2477643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313003" y="247764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marker 1"/>
          <p:cNvSpPr/>
          <p:nvPr/>
        </p:nvSpPr>
        <p:spPr>
          <a:xfrm>
            <a:off x="548640" y="474573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475488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 · H1 56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60120" y="5047488"/>
            <a:ext cx="21563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与其他板块同一字号，全站一个声音。</a:t>
            </a:r>
            <a:endParaRPr lang="en-US" sz="1100" dirty="0"/>
          </a:p>
        </p:txBody>
      </p:sp>
      <p:sp>
        <p:nvSpPr>
          <p:cNvPr id="20" name="marker 2"/>
          <p:cNvSpPr/>
          <p:nvPr/>
        </p:nvSpPr>
        <p:spPr>
          <a:xfrm>
            <a:off x="3390824" y="474573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390824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3802304" y="475488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正文 · Body M 20，宽 620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3802304" y="5047488"/>
            <a:ext cx="21563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三行以内说清“这项工程解决什么问题”。</a:t>
            </a:r>
            <a:endParaRPr lang="en-US" sz="1100" dirty="0"/>
          </a:p>
        </p:txBody>
      </p:sp>
      <p:sp>
        <p:nvSpPr>
          <p:cNvPr id="24" name="marker 3"/>
          <p:cNvSpPr/>
          <p:nvPr/>
        </p:nvSpPr>
        <p:spPr>
          <a:xfrm>
            <a:off x="6233008" y="474573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33008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6644488" y="475488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文字链接 + 箭头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644488" y="5047488"/>
            <a:ext cx="215638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首页不堆 CTA（客户要求），按钮弱化为文字；Medium 字重表示可点击。</a:t>
            </a:r>
            <a:endParaRPr lang="en-US" sz="1100" dirty="0"/>
          </a:p>
        </p:txBody>
      </p:sp>
      <p:sp>
        <p:nvSpPr>
          <p:cNvPr id="28" name="marker 4"/>
          <p:cNvSpPr/>
          <p:nvPr/>
        </p:nvSpPr>
        <p:spPr>
          <a:xfrm>
            <a:off x="9075191" y="474573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075191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9486671" y="475488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画面压暗只在左下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9486671" y="5047488"/>
            <a:ext cx="215638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渐变只覆盖左下 45%，保证文字可读，又不把整张画面压黑。文字距左 120、距底 140。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07  NEWS &amp; INSIGHTS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&amp; Insights：回到第一版结构，细节精修</a:t>
            </a:r>
            <a:endParaRPr lang="en-US" sz="2800" dirty="0"/>
          </a:p>
        </p:txBody>
      </p:sp>
      <p:pic>
        <p:nvPicPr>
          <p:cNvPr id="4" name="news.jpg" descr="/home/user/Claude/deck/img/new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6309551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6309551" cy="4709160"/>
          </a:xfrm>
          <a:prstGeom prst="rect">
            <a:avLst/>
          </a:prstGeom>
          <a:ln w="9525">
            <a:solidFill>
              <a:srgbClr val="2A2B2E"/>
            </a:solidFill>
            <a:prstDash val="solid"/>
          </a:ln>
        </p:spPr>
      </p:sp>
      <p:sp>
        <p:nvSpPr>
          <p:cNvPr id="6" name="marker 1"/>
          <p:cNvSpPr/>
          <p:nvPr/>
        </p:nvSpPr>
        <p:spPr>
          <a:xfrm>
            <a:off x="542929" y="190282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2929" y="19028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marker 2"/>
          <p:cNvSpPr/>
          <p:nvPr/>
        </p:nvSpPr>
        <p:spPr>
          <a:xfrm>
            <a:off x="542929" y="236289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2929" y="23628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marker 3"/>
          <p:cNvSpPr/>
          <p:nvPr/>
        </p:nvSpPr>
        <p:spPr>
          <a:xfrm>
            <a:off x="2514664" y="219858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14664" y="21985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marker 4"/>
          <p:cNvSpPr/>
          <p:nvPr/>
        </p:nvSpPr>
        <p:spPr>
          <a:xfrm>
            <a:off x="2054592" y="3407917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54592" y="34079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marker 5"/>
          <p:cNvSpPr/>
          <p:nvPr/>
        </p:nvSpPr>
        <p:spPr>
          <a:xfrm>
            <a:off x="2054592" y="3578801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54592" y="357880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marker 1"/>
          <p:cNvSpPr/>
          <p:nvPr/>
        </p:nvSpPr>
        <p:spPr>
          <a:xfrm>
            <a:off x="7269671" y="14721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69671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681151" y="1481328"/>
            <a:ext cx="39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 · H1 56，栏宽 400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681151" y="1773936"/>
            <a:ext cx="39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左栏固定标题，右侧 2×2 内容，阅读路径清楚。</a:t>
            </a:r>
            <a:endParaRPr lang="en-US" sz="1100" dirty="0"/>
          </a:p>
        </p:txBody>
      </p:sp>
      <p:sp>
        <p:nvSpPr>
          <p:cNvPr id="20" name="marker 2"/>
          <p:cNvSpPr/>
          <p:nvPr/>
        </p:nvSpPr>
        <p:spPr>
          <a:xfrm>
            <a:off x="7269671" y="209397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69671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681151" y="2103120"/>
            <a:ext cx="39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stories → · Button 16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681151" y="2395728"/>
            <a:ext cx="39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原蓝色粗体改为墨色文字链接，与全站一致。</a:t>
            </a:r>
            <a:endParaRPr lang="en-US" sz="1100" dirty="0"/>
          </a:p>
        </p:txBody>
      </p:sp>
      <p:sp>
        <p:nvSpPr>
          <p:cNvPr id="24" name="marker 3"/>
          <p:cNvSpPr/>
          <p:nvPr/>
        </p:nvSpPr>
        <p:spPr>
          <a:xfrm>
            <a:off x="7269671" y="271576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671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681151" y="2724912"/>
            <a:ext cx="39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分类标签 · 烟熏磨砂 + Mono 大写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681151" y="3017520"/>
            <a:ext cx="396190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News / Country News / Brand Information——正是会议定的三类内容。</a:t>
            </a:r>
            <a:endParaRPr lang="en-US" sz="1100" dirty="0"/>
          </a:p>
        </p:txBody>
      </p:sp>
      <p:sp>
        <p:nvSpPr>
          <p:cNvPr id="28" name="marker 4"/>
          <p:cNvSpPr/>
          <p:nvPr/>
        </p:nvSpPr>
        <p:spPr>
          <a:xfrm>
            <a:off x="7269671" y="362559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269671" y="3625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681151" y="3634740"/>
            <a:ext cx="39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 · Data Mono 14 灰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681151" y="3927348"/>
            <a:ext cx="39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工程标注式的日期，不抢标题。</a:t>
            </a:r>
            <a:endParaRPr lang="en-US" sz="1100" dirty="0"/>
          </a:p>
        </p:txBody>
      </p:sp>
      <p:sp>
        <p:nvSpPr>
          <p:cNvPr id="32" name="marker 5"/>
          <p:cNvSpPr/>
          <p:nvPr/>
        </p:nvSpPr>
        <p:spPr>
          <a:xfrm>
            <a:off x="7269671" y="424738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269671" y="42473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681151" y="4256532"/>
            <a:ext cx="39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文章标题 · H4 24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681151" y="4549140"/>
            <a:ext cx="39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图片下方短标题；悬停变蓝，图片放大 1.03。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08  SUBSCRIBE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订阅：全页唯一的实心按钮</a:t>
            </a:r>
            <a:endParaRPr lang="en-US" sz="2800" dirty="0"/>
          </a:p>
        </p:txBody>
      </p:sp>
      <p:pic>
        <p:nvPicPr>
          <p:cNvPr id="4" name="subscribe.jpg" descr="/home/user/Claude/deck/img/subscrib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4980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7498080" cy="3749040"/>
          </a:xfrm>
          <a:prstGeom prst="rect">
            <a:avLst/>
          </a:prstGeom>
          <a:ln w="9525">
            <a:solidFill>
              <a:srgbClr val="2A2B2E"/>
            </a:solidFill>
            <a:prstDash val="solid"/>
          </a:ln>
        </p:spPr>
      </p:sp>
      <p:sp>
        <p:nvSpPr>
          <p:cNvPr id="6" name="marker 1"/>
          <p:cNvSpPr/>
          <p:nvPr/>
        </p:nvSpPr>
        <p:spPr>
          <a:xfrm>
            <a:off x="3379470" y="2008061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79470" y="200806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marker 2"/>
          <p:cNvSpPr/>
          <p:nvPr/>
        </p:nvSpPr>
        <p:spPr>
          <a:xfrm>
            <a:off x="1973580" y="2515743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73580" y="251574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marker 3"/>
          <p:cNvSpPr/>
          <p:nvPr/>
        </p:nvSpPr>
        <p:spPr>
          <a:xfrm>
            <a:off x="2949893" y="436683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49893" y="4366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marker 4"/>
          <p:cNvSpPr/>
          <p:nvPr/>
        </p:nvSpPr>
        <p:spPr>
          <a:xfrm>
            <a:off x="5332095" y="436683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32095" y="4366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marker 5"/>
          <p:cNvSpPr/>
          <p:nvPr/>
        </p:nvSpPr>
        <p:spPr>
          <a:xfrm>
            <a:off x="2949893" y="466363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49893" y="46636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marker 1"/>
          <p:cNvSpPr/>
          <p:nvPr/>
        </p:nvSpPr>
        <p:spPr>
          <a:xfrm>
            <a:off x="8458200" y="14721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148132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up with · H2 44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177393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一句邀请，语气平和。</a:t>
            </a:r>
            <a:endParaRPr lang="en-US" sz="1100" dirty="0"/>
          </a:p>
        </p:txBody>
      </p:sp>
      <p:sp>
        <p:nvSpPr>
          <p:cNvPr id="20" name="marker 2"/>
          <p:cNvSpPr/>
          <p:nvPr/>
        </p:nvSpPr>
        <p:spPr>
          <a:xfrm>
            <a:off x="8458200" y="209397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210312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MAXUS 字标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395728"/>
            <a:ext cx="277337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整页最大的品牌露出放在结尾，形成记忆收束。</a:t>
            </a:r>
            <a:endParaRPr lang="en-US" sz="1100" dirty="0"/>
          </a:p>
        </p:txBody>
      </p:sp>
      <p:sp>
        <p:nvSpPr>
          <p:cNvPr id="24" name="marker 3"/>
          <p:cNvSpPr/>
          <p:nvPr/>
        </p:nvSpPr>
        <p:spPr>
          <a:xfrm>
            <a:off x="8458200" y="281635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5820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282549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白色输入框 · 64px 高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3118104"/>
            <a:ext cx="277337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在任何背景图上都看得清、点得到（设计师与客户已确认白底更好）。</a:t>
            </a:r>
            <a:endParaRPr lang="en-US" sz="1100" dirty="0"/>
          </a:p>
        </p:txBody>
      </p:sp>
      <p:sp>
        <p:nvSpPr>
          <p:cNvPr id="28" name="marker 4"/>
          <p:cNvSpPr/>
          <p:nvPr/>
        </p:nvSpPr>
        <p:spPr>
          <a:xfrm>
            <a:off x="8458200" y="353872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58200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0" y="3547872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黑底 Subscribe →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3840480"/>
            <a:ext cx="277337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首页其他按钮都已弱化为文字链接，这里是唯一真正的转化动作，所以用最高对比。</a:t>
            </a:r>
            <a:endParaRPr lang="en-US" sz="1100" dirty="0"/>
          </a:p>
        </p:txBody>
      </p:sp>
      <p:sp>
        <p:nvSpPr>
          <p:cNvPr id="32" name="marker 5"/>
          <p:cNvSpPr/>
          <p:nvPr/>
        </p:nvSpPr>
        <p:spPr>
          <a:xfrm>
            <a:off x="8458200" y="426110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5820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427024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同意条款 · 14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869680" y="456285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合规必需，最小可读字号。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09  FOOTER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页脚：干净的工具区</a:t>
            </a:r>
            <a:endParaRPr lang="en-US" sz="2800" dirty="0"/>
          </a:p>
        </p:txBody>
      </p:sp>
      <p:pic>
        <p:nvPicPr>
          <p:cNvPr id="4" name="footer.jpg" descr="/home/user/Claude/deck/img/foo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6949440" cy="25336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6949440" cy="2533650"/>
          </a:xfrm>
          <a:prstGeom prst="rect">
            <a:avLst/>
          </a:prstGeom>
          <a:ln w="9525">
            <a:solidFill>
              <a:srgbClr val="2A2B2E"/>
            </a:solidFill>
            <a:prstDash val="solid"/>
          </a:ln>
        </p:spPr>
      </p:sp>
      <p:sp>
        <p:nvSpPr>
          <p:cNvPr id="6" name="marker 1"/>
          <p:cNvSpPr/>
          <p:nvPr/>
        </p:nvSpPr>
        <p:spPr>
          <a:xfrm>
            <a:off x="845820" y="1760411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5820" y="17604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marker 2"/>
          <p:cNvSpPr/>
          <p:nvPr/>
        </p:nvSpPr>
        <p:spPr>
          <a:xfrm>
            <a:off x="5189220" y="1887093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89220" y="18870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marker 3"/>
          <p:cNvSpPr/>
          <p:nvPr/>
        </p:nvSpPr>
        <p:spPr>
          <a:xfrm>
            <a:off x="845820" y="228523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5820" y="22852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marker 4"/>
          <p:cNvSpPr/>
          <p:nvPr/>
        </p:nvSpPr>
        <p:spPr>
          <a:xfrm>
            <a:off x="5189220" y="2466213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89220" y="24662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marker 5"/>
          <p:cNvSpPr/>
          <p:nvPr/>
        </p:nvSpPr>
        <p:spPr>
          <a:xfrm>
            <a:off x="6202680" y="367874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02680" y="36787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marker 1"/>
          <p:cNvSpPr/>
          <p:nvPr/>
        </p:nvSpPr>
        <p:spPr>
          <a:xfrm>
            <a:off x="7909560" y="14721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0956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1481328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· 横版白色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1773936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深色底使用反白横版组合，符合品牌规范。</a:t>
            </a:r>
            <a:endParaRPr lang="en-US" sz="1100" dirty="0"/>
          </a:p>
        </p:txBody>
      </p:sp>
      <p:sp>
        <p:nvSpPr>
          <p:cNvPr id="20" name="marker 2"/>
          <p:cNvSpPr/>
          <p:nvPr/>
        </p:nvSpPr>
        <p:spPr>
          <a:xfrm>
            <a:off x="7909560" y="211226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0956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2121408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· 下划线输入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2414016"/>
            <a:ext cx="332201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页脚只是“顺手订阅”，用轻量的下划线样式，不与上方订阅区重复抢眼。</a:t>
            </a:r>
            <a:endParaRPr lang="en-US" sz="1100" dirty="0"/>
          </a:p>
        </p:txBody>
      </p:sp>
      <p:sp>
        <p:nvSpPr>
          <p:cNvPr id="24" name="marker 3"/>
          <p:cNvSpPr/>
          <p:nvPr/>
        </p:nvSpPr>
        <p:spPr>
          <a:xfrm>
            <a:off x="7909560" y="285292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0956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2862072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四栏标签 · Mono 大写 + 链接 18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3154680"/>
            <a:ext cx="33220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页脚仅作直达链接（9/29 会议），分 About / Support / Contact / Follow 四组。</a:t>
            </a:r>
            <a:endParaRPr lang="en-US" sz="1100" dirty="0"/>
          </a:p>
        </p:txBody>
      </p:sp>
      <p:sp>
        <p:nvSpPr>
          <p:cNvPr id="28" name="marker 4"/>
          <p:cNvSpPr/>
          <p:nvPr/>
        </p:nvSpPr>
        <p:spPr>
          <a:xfrm>
            <a:off x="7909560" y="378104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09560" y="37810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321040" y="3790188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 · 44px 细描边圆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321040" y="4082796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统一线性图标；悬停描边变蓝。</a:t>
            </a:r>
            <a:endParaRPr lang="en-US" sz="1100" dirty="0"/>
          </a:p>
        </p:txBody>
      </p:sp>
      <p:sp>
        <p:nvSpPr>
          <p:cNvPr id="32" name="marker 5"/>
          <p:cNvSpPr/>
          <p:nvPr/>
        </p:nvSpPr>
        <p:spPr>
          <a:xfrm>
            <a:off x="7909560" y="442112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909560" y="44211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321040" y="4430268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Market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321040" y="4722876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通往各国站点——全球站导流到国家站的出口。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MOTION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全球板块的滚动脚本：一段话讲完“Global → Local”</a:t>
            </a:r>
            <a:endParaRPr lang="en-US" sz="2800" dirty="0"/>
          </a:p>
        </p:txBody>
      </p:sp>
      <p:pic>
        <p:nvPicPr>
          <p:cNvPr id="4" name="Image 0" descr="/home/user/Claude/deck/img/globe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515258" cy="197733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082186" y="2360266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68973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地球自转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34733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进入板块：地球约 20 秒一圈缓慢自转；后台按 IP 识别国家。</a:t>
            </a:r>
            <a:endParaRPr lang="en-US" sz="1150" dirty="0"/>
          </a:p>
        </p:txBody>
      </p:sp>
      <p:pic>
        <p:nvPicPr>
          <p:cNvPr id="8" name="Image 1" descr="/home/user/Claude/deck/img/globe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218" y="1554480"/>
            <a:ext cx="3515258" cy="197733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71765" y="2360266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338218" y="3668973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停在用户所在国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338218" y="4034733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滚动 0–40%：地球减速转到用户所在国（1.2s），光环出现；4 张本地照片依次浮出（间隔 120ms），引线画出。</a:t>
            </a:r>
            <a:endParaRPr lang="en-US" sz="1150" dirty="0"/>
          </a:p>
        </p:txBody>
      </p:sp>
      <p:pic>
        <p:nvPicPr>
          <p:cNvPr id="12" name="Image 2" descr="/home/user/Claude/deck/img/globe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1554480"/>
            <a:ext cx="3515258" cy="197733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27797" y="3668973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数据出现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127797" y="4034733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滚动 60–80%：照片淡出，地球上移下沉；数字滚到位后计数一次（1.4s），随后进入车型屏。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5349240"/>
            <a:ext cx="11094415" cy="0"/>
          </a:xfrm>
          <a:prstGeom prst="line">
            <a:avLst/>
          </a:prstGeom>
          <a:noFill/>
          <a:ln w="9525">
            <a:solidFill>
              <a:srgbClr val="2A2B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已有可在浏览器直接运行的 HTML 原型（maxus-global-local.html），开发可直接参考；动画跟随滚动，可倒放。IP 识别失败时默认展示 Europe / United Kingdom。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Q &amp; 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客户可能会问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6432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标题为什么不加粗？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1168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Michroma 只有 Regular；宽体字视觉重量已足；新标识方向是“线条细锐”。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78728" y="1508760"/>
            <a:ext cx="536432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64528" y="169164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导航为什么是 18？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64528" y="201168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最常用的工具，大屏上 16 偏小；18 清楚又不抢视频，所以不加粗。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536432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8620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正文为什么统一 20？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182112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1920 屏、60–70cm 观看距离下最舒适；150% 行高给足呼吸。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8728" y="2679192"/>
            <a:ext cx="536432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7328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64528" y="28620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为什么不用我们的蓝色？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64528" y="3182112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方案定黑白为核心、蓝为“一抹”；蓝色只在 Hover 时亮起，代表电动能量。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536432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032504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为什么按钮这么少、只是文字？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352544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首页负责品牌形象，不堆 CTA；只有订阅保留实心按钮。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8728" y="3849624"/>
            <a:ext cx="536432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07328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964528" y="4032504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数字为什么这么大？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64528" y="4352544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数据是信任证据；Light 字重让它大而不重。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20056"/>
            <a:ext cx="536432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202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5202936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会不会像 Rivian / 别家？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522976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借鉴的是高端品牌的克制方法；字体、口号、地球、1896 叙事都是 MAXUS 独有。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8728" y="5020056"/>
            <a:ext cx="536432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07328" y="5202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5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964528" y="5202936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图片和视频能直接用吗？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64528" y="5522976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部分为 AI 示意图，首屏视频车型也需替换为 MAXUS 实拍。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F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NEXT STEPS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上线前需要贵司确认的事项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首屏视频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6002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当前车型为参考素材，需提供 MAXUS 实拍视频。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11094415" cy="0"/>
          </a:xfrm>
          <a:prstGeom prst="line">
            <a:avLst/>
          </a:prstGeom>
          <a:noFill/>
          <a:ln w="9525">
            <a:solidFill>
              <a:srgbClr val="2A2B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505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本地实景照片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49631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按国家提供 3–4 张真实用车场景，由 CMS 按 IP 配置。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11094415" cy="0"/>
          </a:xfrm>
          <a:prstGeom prst="line">
            <a:avLst/>
          </a:prstGeom>
          <a:noFill/>
          <a:ln w="9525">
            <a:solidFill>
              <a:srgbClr val="2A2B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467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364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国家站名单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39242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地球定位与 Choose Your Market 需要实际国家站列表。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94415" cy="0"/>
          </a:xfrm>
          <a:prstGeom prst="line">
            <a:avLst/>
          </a:prstGeom>
          <a:noFill/>
          <a:ln w="9525">
            <a:solidFill>
              <a:srgbClr val="2A2B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428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61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数据口径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28853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1.2M+ 客户数请确认出处；1896 / 100+ 依据品牌方案。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56048"/>
            <a:ext cx="11094415" cy="0"/>
          </a:xfrm>
          <a:prstGeom prst="line">
            <a:avLst/>
          </a:prstGeom>
          <a:noFill/>
          <a:ln w="9525">
            <a:solidFill>
              <a:srgbClr val="2A2B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389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157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518464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确认桌面版后，按同一套规范输出移动端（字号已预留 Mobile 样式）。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852160"/>
            <a:ext cx="11094415" cy="0"/>
          </a:xfrm>
          <a:prstGeom prst="line">
            <a:avLst/>
          </a:prstGeom>
          <a:noFill/>
          <a:ln w="9525">
            <a:solidFill>
              <a:srgbClr val="2A2B2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deck/img/subscribe.jp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>
              <a:alpha val="65000"/>
            </a:srgbClr>
          </a:solidFill>
          <a:ln/>
        </p:spPr>
      </p:sp>
      <p:pic>
        <p:nvPicPr>
          <p:cNvPr id="4" name="Image 1" descr="/home/user/Claude/deck/img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8" y="2286000"/>
            <a:ext cx="2926080" cy="6583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the Charge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0" y="3886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驭电先行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XUS Homepage UI">
  <a:themeElements>
    <a:clrScheme name="MAXUS Homepage UI">
      <a:dk1>
        <a:srgbClr val="0A0A0B"/>
      </a:dk1>
      <a:lt1>
        <a:srgbClr val="FFFFFF"/>
      </a:lt1>
      <a:dk2>
        <a:srgbClr val="5A5F68"/>
      </a:dk2>
      <a:lt2>
        <a:srgbClr val="F1F1F0"/>
      </a:lt2>
      <a:accent1>
        <a:srgbClr val="1E5FC8"/>
      </a:accent1>
      <a:accent2>
        <a:srgbClr val="6E9BF0"/>
      </a:accent2>
      <a:accent3>
        <a:srgbClr val="8A8F98"/>
      </a:accent3>
      <a:accent4>
        <a:srgbClr val="070A11"/>
      </a:accent4>
      <a:accent5>
        <a:srgbClr val="1F6BC6"/>
      </a:accent5>
      <a:accent6>
        <a:srgbClr val="61F2AD"/>
      </a:accent6>
      <a:hlink>
        <a:srgbClr val="6E9BF0"/>
      </a:hlink>
      <a:folHlink>
        <a:srgbClr val="8A8F98"/>
      </a:folHlink>
    </a:clrScheme>
    <a:fontScheme name="MAXUS Homepage U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MAXUS 官网首页 Web UI 设计解说</dc:title>
  <dc:subject>PptxGenJS Presentation</dc:subject>
  <dc:creator>MAXUS Web Design</dc:creator>
  <cp:lastModifiedBy>MAXUS Web Design</cp:lastModifiedBy>
  <cp:revision>1</cp:revision>
  <dcterms:created xsi:type="dcterms:W3CDTF">2026-10-09T12:09:07Z</dcterms:created>
  <dcterms:modified xsi:type="dcterms:W3CDTF">2026-10-09T12:09:07Z</dcterms:modified>
</cp:coreProperties>
</file>